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382" r:id="rId5"/>
    <p:sldId id="468" r:id="rId6"/>
    <p:sldId id="469" r:id="rId7"/>
    <p:sldId id="454" r:id="rId8"/>
    <p:sldId id="460" r:id="rId9"/>
    <p:sldId id="459" r:id="rId10"/>
    <p:sldId id="461" r:id="rId11"/>
    <p:sldId id="434" r:id="rId12"/>
    <p:sldId id="462" r:id="rId13"/>
    <p:sldId id="455" r:id="rId14"/>
    <p:sldId id="463" r:id="rId15"/>
    <p:sldId id="464" r:id="rId16"/>
    <p:sldId id="466" r:id="rId17"/>
    <p:sldId id="4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9FA80"/>
    <a:srgbClr val="C0B9C5"/>
    <a:srgbClr val="33A400"/>
    <a:srgbClr val="595959"/>
    <a:srgbClr val="83A7FD"/>
    <a:srgbClr val="28A8E8"/>
    <a:srgbClr val="1B0230"/>
    <a:srgbClr val="010A1D"/>
    <a:srgbClr val="0A09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5388" autoAdjust="0"/>
  </p:normalViewPr>
  <p:slideViewPr>
    <p:cSldViewPr snapToGrid="0" snapToObjects="1" showGuides="1">
      <p:cViewPr varScale="1">
        <p:scale>
          <a:sx n="119" d="100"/>
          <a:sy n="119" d="100"/>
        </p:scale>
        <p:origin x="120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76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5423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1747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617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0089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62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7324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447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275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25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41" y="1040674"/>
            <a:ext cx="10435631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5" y="-1"/>
            <a:ext cx="10515601" cy="965193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1" y="2465538"/>
            <a:ext cx="7303539" cy="3427265"/>
          </a:xfrm>
        </p:spPr>
        <p:txBody>
          <a:bodyPr/>
          <a:lstStyle>
            <a:lvl1pPr marL="283457" indent="-283457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14" indent="-283457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15" indent="-283457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15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2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377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566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754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91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202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77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  <p:sldLayoutId id="214748368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microsoft.com/office/2007/relationships/hdphoto" Target="../media/hdphoto1.wdp"/><Relationship Id="rId10" Type="http://schemas.openxmlformats.org/officeDocument/2006/relationships/image" Target="../media/image8.svg"/><Relationship Id="rId4" Type="http://schemas.openxmlformats.org/officeDocument/2006/relationships/image" Target="../media/image13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Track II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" y="3670629"/>
            <a:ext cx="12191997" cy="318737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Advanced Distributed-Memory Programming</a:t>
            </a:r>
          </a:p>
          <a:p>
            <a:endParaRPr lang="en-US" dirty="0"/>
          </a:p>
          <a:p>
            <a:r>
              <a:rPr lang="en-US" dirty="0"/>
              <a:t>Hands ON Exercises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2025 IHPCSS</a:t>
            </a:r>
          </a:p>
          <a:p>
            <a:endParaRPr lang="en-US" sz="2000" dirty="0"/>
          </a:p>
          <a:p>
            <a:endParaRPr lang="en-US" sz="2000" dirty="0"/>
          </a:p>
          <a:p>
            <a:pPr algn="r"/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Andrew KirbY</a:t>
            </a: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A83553-F228-6812-85BC-EEFD1BF6F3B8}"/>
              </a:ext>
            </a:extLst>
          </p:cNvPr>
          <p:cNvSpPr txBox="1"/>
          <p:nvPr/>
        </p:nvSpPr>
        <p:spPr>
          <a:xfrm>
            <a:off x="8039241" y="1923002"/>
            <a:ext cx="34121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P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554BFA-667F-A47D-C72C-E60C569D6A34}"/>
              </a:ext>
            </a:extLst>
          </p:cNvPr>
          <p:cNvSpPr txBox="1"/>
          <p:nvPr/>
        </p:nvSpPr>
        <p:spPr>
          <a:xfrm>
            <a:off x="8039241" y="1923002"/>
            <a:ext cx="34121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P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4CFB89-A716-C4B8-AF91-D842B31C548B}"/>
              </a:ext>
            </a:extLst>
          </p:cNvPr>
          <p:cNvSpPr txBox="1"/>
          <p:nvPr/>
        </p:nvSpPr>
        <p:spPr>
          <a:xfrm>
            <a:off x="8039241" y="1923002"/>
            <a:ext cx="34121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P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74F934-D7CB-CFED-6954-A570D138F783}"/>
              </a:ext>
            </a:extLst>
          </p:cNvPr>
          <p:cNvSpPr txBox="1"/>
          <p:nvPr/>
        </p:nvSpPr>
        <p:spPr>
          <a:xfrm>
            <a:off x="8039241" y="1923002"/>
            <a:ext cx="34121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P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7E599-4B88-651D-E9BB-27C0AED39286}"/>
              </a:ext>
            </a:extLst>
          </p:cNvPr>
          <p:cNvSpPr txBox="1"/>
          <p:nvPr/>
        </p:nvSpPr>
        <p:spPr>
          <a:xfrm>
            <a:off x="8039241" y="1923002"/>
            <a:ext cx="34121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M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P</a:t>
            </a:r>
            <a:r>
              <a:rPr lang="en-US" sz="4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 </a:t>
            </a:r>
            <a:r>
              <a:rPr lang="en-US" sz="8000" dirty="0">
                <a:ln>
                  <a:solidFill>
                    <a:srgbClr val="05202E">
                      <a:alpha val="0"/>
                    </a:srgbClr>
                  </a:solidFill>
                </a:ln>
                <a:noFill/>
                <a:latin typeface="Force Runner" pitchFamily="2" charset="0"/>
                <a:ea typeface="ADLaM Display" panose="020F0502020204030204" pitchFamily="2" charset="0"/>
                <a:cs typeface="Poppins" panose="000005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563960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1B9C5F-E24A-1DDD-85D7-90BE3BC2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Bridges-2 Setup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D4198EB-524C-C04E-EA8D-1883C1E5DF1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4326381"/>
            <a:ext cx="4761186" cy="2132228"/>
          </a:xfrm>
          <a:prstGeom prst="roundRect">
            <a:avLst>
              <a:gd name="adj" fmla="val 9532"/>
            </a:avLst>
          </a:prstGeom>
          <a:solidFill>
            <a:schemeClr val="bg2">
              <a:lumMod val="1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Modules</a:t>
            </a:r>
          </a:p>
          <a:p>
            <a:pPr indent="-342900"/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1)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allocations/1.0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2)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psc.allocations.user/1.0</a:t>
            </a:r>
            <a:b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</a:b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3)</a:t>
            </a:r>
            <a:r>
              <a:rPr lang="en-US" dirty="0">
                <a:solidFill>
                  <a:srgbClr val="00B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intel-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mpi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/2021.10.0</a:t>
            </a:r>
          </a:p>
          <a:p>
            <a:pPr marL="457200" indent="-457200">
              <a:buClr>
                <a:srgbClr val="09FA80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9FA80"/>
                </a:solidFill>
                <a:latin typeface="Consolas" panose="020B0609020204030204" pitchFamily="49" charset="0"/>
              </a:rPr>
              <a:t>module load intel-</a:t>
            </a:r>
            <a:r>
              <a:rPr lang="en-US" dirty="0" err="1">
                <a:solidFill>
                  <a:srgbClr val="09FA80"/>
                </a:solidFill>
                <a:latin typeface="Consolas" panose="020B0609020204030204" pitchFamily="49" charset="0"/>
              </a:rPr>
              <a:t>mpi</a:t>
            </a:r>
            <a:endParaRPr lang="en-US" dirty="0">
              <a:solidFill>
                <a:srgbClr val="09FA80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able Placeholder 3">
            <a:extLst>
              <a:ext uri="{FF2B5EF4-FFF2-40B4-BE49-F238E27FC236}">
                <a16:creationId xmlns:a16="http://schemas.microsoft.com/office/drawing/2014/main" id="{CF2550C2-66C5-DCFE-78E6-FE3E5DDA6012}"/>
              </a:ext>
            </a:extLst>
          </p:cNvPr>
          <p:cNvSpPr txBox="1">
            <a:spLocks/>
          </p:cNvSpPr>
          <p:nvPr/>
        </p:nvSpPr>
        <p:spPr>
          <a:xfrm>
            <a:off x="5964073" y="4326381"/>
            <a:ext cx="5334548" cy="1738092"/>
          </a:xfrm>
          <a:prstGeom prst="roundRect">
            <a:avLst>
              <a:gd name="adj" fmla="val 13765"/>
            </a:avLst>
          </a:prstGeom>
          <a:solidFill>
            <a:schemeClr val="bg2">
              <a:lumMod val="1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3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Interactive Reservations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./</a:t>
            </a:r>
            <a:r>
              <a:rPr lang="en-US" sz="2800" dirty="0">
                <a:solidFill>
                  <a:srgbClr val="09FA80"/>
                </a:solidFill>
                <a:latin typeface="Consolas" panose="020B0609020204030204" pitchFamily="49" charset="0"/>
              </a:rPr>
              <a:t>interactive8-day1.sh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./</a:t>
            </a:r>
            <a:r>
              <a:rPr lang="en-US" sz="2800" dirty="0">
                <a:solidFill>
                  <a:srgbClr val="09FA80"/>
                </a:solidFill>
                <a:latin typeface="Consolas" panose="020B0609020204030204" pitchFamily="49" charset="0"/>
              </a:rPr>
              <a:t>interactive8-day2.sh</a:t>
            </a:r>
          </a:p>
          <a:p>
            <a:pPr marL="1714500" lvl="2" indent="-457200">
              <a:buFont typeface="Wingdings" panose="05000000000000000000" pitchFamily="2" charset="2"/>
              <a:buChar char="Ø"/>
            </a:pPr>
            <a:endParaRPr lang="en-US" sz="2800" dirty="0">
              <a:solidFill>
                <a:srgbClr val="09FA80"/>
              </a:solidFill>
              <a:latin typeface="+mj-lt"/>
            </a:endParaRPr>
          </a:p>
        </p:txBody>
      </p:sp>
      <p:sp>
        <p:nvSpPr>
          <p:cNvPr id="6" name="Table Placeholder 3">
            <a:extLst>
              <a:ext uri="{FF2B5EF4-FFF2-40B4-BE49-F238E27FC236}">
                <a16:creationId xmlns:a16="http://schemas.microsoft.com/office/drawing/2014/main" id="{D876EA42-B917-15E2-0761-43E6DED0CCA0}"/>
              </a:ext>
            </a:extLst>
          </p:cNvPr>
          <p:cNvSpPr txBox="1">
            <a:spLocks/>
          </p:cNvSpPr>
          <p:nvPr/>
        </p:nvSpPr>
        <p:spPr>
          <a:xfrm>
            <a:off x="838200" y="3204287"/>
            <a:ext cx="10515601" cy="973344"/>
          </a:xfrm>
          <a:prstGeom prst="roundRect">
            <a:avLst>
              <a:gd name="adj" fmla="val 9532"/>
            </a:avLst>
          </a:prstGeom>
          <a:solidFill>
            <a:schemeClr val="bg2">
              <a:lumMod val="1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3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Exercises</a:t>
            </a:r>
            <a:b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cp –r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/jet/home/akirby/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IHPCSS2024-mpi/exercises ~/.</a:t>
            </a:r>
            <a:endParaRPr lang="en-US" dirty="0">
              <a:solidFill>
                <a:srgbClr val="09FA80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able Placeholder 3">
            <a:extLst>
              <a:ext uri="{FF2B5EF4-FFF2-40B4-BE49-F238E27FC236}">
                <a16:creationId xmlns:a16="http://schemas.microsoft.com/office/drawing/2014/main" id="{F6A6827E-1EFA-1771-F3F9-FCFB842EC17C}"/>
              </a:ext>
            </a:extLst>
          </p:cNvPr>
          <p:cNvSpPr txBox="1">
            <a:spLocks/>
          </p:cNvSpPr>
          <p:nvPr/>
        </p:nvSpPr>
        <p:spPr>
          <a:xfrm>
            <a:off x="838200" y="2082192"/>
            <a:ext cx="10515601" cy="973344"/>
          </a:xfrm>
          <a:prstGeom prst="roundRect">
            <a:avLst>
              <a:gd name="adj" fmla="val 9532"/>
            </a:avLst>
          </a:prstGeom>
          <a:solidFill>
            <a:schemeClr val="bg2">
              <a:lumMod val="1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3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Connecting</a:t>
            </a:r>
            <a:b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ssh </a:t>
            </a:r>
            <a:r>
              <a:rPr lang="en-US" sz="2800" dirty="0">
                <a:solidFill>
                  <a:srgbClr val="FFC000"/>
                </a:solidFill>
                <a:latin typeface="Consolas" panose="020B0609020204030204" pitchFamily="49" charset="0"/>
              </a:rPr>
              <a:t>&lt;username&gt;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@</a:t>
            </a:r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Consolas" panose="020B0609020204030204" pitchFamily="49" charset="0"/>
              </a:rPr>
              <a:t>bridges2.psc.edu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376705-2B6E-0AFD-DA42-986CFC1BAF5D}"/>
              </a:ext>
            </a:extLst>
          </p:cNvPr>
          <p:cNvSpPr txBox="1"/>
          <p:nvPr/>
        </p:nvSpPr>
        <p:spPr>
          <a:xfrm>
            <a:off x="5785398" y="6132786"/>
            <a:ext cx="57970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Slides(pptx): 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https://github.com/ackirby88/IHPCSS2024-mpi</a:t>
            </a:r>
          </a:p>
        </p:txBody>
      </p:sp>
    </p:spTree>
    <p:extLst>
      <p:ext uri="{BB962C8B-B14F-4D97-AF65-F5344CB8AC3E}">
        <p14:creationId xmlns:p14="http://schemas.microsoft.com/office/powerpoint/2010/main" val="2194251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1B9C5F-E24A-1DDD-85D7-90BE3BC2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Slides </a:t>
            </a:r>
          </a:p>
        </p:txBody>
      </p:sp>
      <p:sp>
        <p:nvSpPr>
          <p:cNvPr id="7" name="Table Placeholder 3">
            <a:extLst>
              <a:ext uri="{FF2B5EF4-FFF2-40B4-BE49-F238E27FC236}">
                <a16:creationId xmlns:a16="http://schemas.microsoft.com/office/drawing/2014/main" id="{F6A6827E-1EFA-1771-F3F9-FCFB842EC17C}"/>
              </a:ext>
            </a:extLst>
          </p:cNvPr>
          <p:cNvSpPr txBox="1">
            <a:spLocks/>
          </p:cNvSpPr>
          <p:nvPr/>
        </p:nvSpPr>
        <p:spPr>
          <a:xfrm>
            <a:off x="838200" y="3474815"/>
            <a:ext cx="10515601" cy="973344"/>
          </a:xfrm>
          <a:prstGeom prst="roundRect">
            <a:avLst>
              <a:gd name="adj" fmla="val 9532"/>
            </a:avLst>
          </a:prstGeom>
          <a:solidFill>
            <a:schemeClr val="bg2">
              <a:lumMod val="10000"/>
              <a:alpha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3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Slides (pptx)/Code on Github</a:t>
            </a:r>
            <a:br>
              <a:rPr lang="en-US" sz="2800" u="sng" dirty="0">
                <a:solidFill>
                  <a:schemeClr val="bg1">
                    <a:lumMod val="95000"/>
                  </a:schemeClr>
                </a:solidFill>
                <a:latin typeface="+mj-lt"/>
              </a:rPr>
            </a:b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git clone </a:t>
            </a:r>
            <a:r>
              <a:rPr lang="en-US" sz="2400" dirty="0">
                <a:solidFill>
                  <a:schemeClr val="bg1"/>
                </a:solidFill>
                <a:latin typeface="Consolas" panose="020B0609020204030204" pitchFamily="49" charset="0"/>
              </a:rPr>
              <a:t>https://github.com/ackirby88/IHPCSS2025-mpi</a:t>
            </a:r>
            <a:endParaRPr lang="en-US" dirty="0">
              <a:solidFill>
                <a:schemeClr val="bg1">
                  <a:lumMod val="9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62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E501D00-90D3-150C-2834-AEA770009938}"/>
              </a:ext>
            </a:extLst>
          </p:cNvPr>
          <p:cNvSpPr txBox="1">
            <a:spLocks/>
          </p:cNvSpPr>
          <p:nvPr/>
        </p:nvSpPr>
        <p:spPr>
          <a:xfrm>
            <a:off x="733565" y="1281162"/>
            <a:ext cx="4341934" cy="531016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   </a:t>
            </a:r>
            <a:r>
              <a:rPr lang="en-US" sz="2800" u="sng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Four Programs</a:t>
            </a:r>
          </a:p>
          <a:p>
            <a:pPr marL="918958" lvl="3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ddt.1.contiguous</a:t>
            </a:r>
          </a:p>
          <a:p>
            <a:pPr marL="918958" lvl="3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ddt.2.vector</a:t>
            </a:r>
          </a:p>
          <a:p>
            <a:pPr marL="918958" lvl="3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ddt.3.indexed</a:t>
            </a:r>
          </a:p>
          <a:p>
            <a:pPr marL="918958" lvl="3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ddt.4.struct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BEB735-F0C5-3D6A-FE93-4DF6E9C3C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88202"/>
              </p:ext>
            </p:extLst>
          </p:nvPr>
        </p:nvGraphicFramePr>
        <p:xfrm>
          <a:off x="5509963" y="1782727"/>
          <a:ext cx="4808600" cy="4808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1202150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1202150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1202150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1202150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1202150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1202150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1202150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1202150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Exercise.1				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Derived Data Types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50E90E-28AE-0177-98F9-8A83B8FBA7EF}"/>
              </a:ext>
            </a:extLst>
          </p:cNvPr>
          <p:cNvSpPr txBox="1"/>
          <p:nvPr/>
        </p:nvSpPr>
        <p:spPr>
          <a:xfrm>
            <a:off x="6607731" y="1043555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C000"/>
                </a:solidFill>
                <a:latin typeface="Aptos Mono" panose="020B0009020202020204" pitchFamily="49" charset="0"/>
              </a:rPr>
              <a:t>A[4][4]</a:t>
            </a:r>
            <a:endParaRPr lang="en-US" dirty="0">
              <a:solidFill>
                <a:srgbClr val="FFC000"/>
              </a:solidFill>
              <a:latin typeface="Aptos Mono" panose="020B000902020202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7C20B4-75D6-5CDA-527C-3DCD02187A3F}"/>
              </a:ext>
            </a:extLst>
          </p:cNvPr>
          <p:cNvSpPr/>
          <p:nvPr/>
        </p:nvSpPr>
        <p:spPr>
          <a:xfrm>
            <a:off x="5509963" y="1782727"/>
            <a:ext cx="4808600" cy="480860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8100">
                <a:solidFill>
                  <a:schemeClr val="accent1">
                    <a:shade val="15000"/>
                  </a:schemeClr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60638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B20581-FA20-19C1-A180-C218DAF33D68}"/>
              </a:ext>
            </a:extLst>
          </p:cNvPr>
          <p:cNvSpPr/>
          <p:nvPr/>
        </p:nvSpPr>
        <p:spPr>
          <a:xfrm>
            <a:off x="525162" y="2723441"/>
            <a:ext cx="3923270" cy="3999261"/>
          </a:xfrm>
          <a:prstGeom prst="roundRect">
            <a:avLst/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4239CA-4872-6974-99E6-0E833896A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253843"/>
              </p:ext>
            </p:extLst>
          </p:nvPr>
        </p:nvGraphicFramePr>
        <p:xfrm>
          <a:off x="1018577" y="3450737"/>
          <a:ext cx="2894964" cy="28949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D8BB74B-936B-A0A8-D959-208BDC413E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655498"/>
              </p:ext>
            </p:extLst>
          </p:nvPr>
        </p:nvGraphicFramePr>
        <p:xfrm>
          <a:off x="1018578" y="3452346"/>
          <a:ext cx="2894964" cy="28949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Exercise.1				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Derived Data Types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BAC4BA-F40B-7E49-0F55-845C70CB0B7C}"/>
              </a:ext>
            </a:extLst>
          </p:cNvPr>
          <p:cNvSpPr/>
          <p:nvPr/>
        </p:nvSpPr>
        <p:spPr>
          <a:xfrm>
            <a:off x="6098815" y="5560048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6C4945-0262-4999-27CB-38B56DC5935F}"/>
              </a:ext>
            </a:extLst>
          </p:cNvPr>
          <p:cNvSpPr/>
          <p:nvPr/>
        </p:nvSpPr>
        <p:spPr>
          <a:xfrm>
            <a:off x="6098815" y="4292003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0879C1-B8E3-54A8-2D0F-CA9E481509C7}"/>
              </a:ext>
            </a:extLst>
          </p:cNvPr>
          <p:cNvSpPr/>
          <p:nvPr/>
        </p:nvSpPr>
        <p:spPr>
          <a:xfrm>
            <a:off x="6098815" y="3023958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8A7CDA7-627B-ACD5-79A3-81F072B360CB}"/>
              </a:ext>
            </a:extLst>
          </p:cNvPr>
          <p:cNvSpPr/>
          <p:nvPr/>
        </p:nvSpPr>
        <p:spPr>
          <a:xfrm>
            <a:off x="6098815" y="1755913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E501D00-90D3-150C-2834-AEA770009938}"/>
              </a:ext>
            </a:extLst>
          </p:cNvPr>
          <p:cNvSpPr txBox="1">
            <a:spLocks/>
          </p:cNvSpPr>
          <p:nvPr/>
        </p:nvSpPr>
        <p:spPr>
          <a:xfrm>
            <a:off x="3259095" y="402685"/>
            <a:ext cx="3242645" cy="63092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ddt.1.contiguous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108814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1088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A0DF4-EA1D-BE42-BF4E-ED5AEDDCB37A}"/>
              </a:ext>
            </a:extLst>
          </p:cNvPr>
          <p:cNvSpPr txBox="1"/>
          <p:nvPr/>
        </p:nvSpPr>
        <p:spPr>
          <a:xfrm>
            <a:off x="1317246" y="2723441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ptos Mono" panose="020B0009020202020204" pitchFamily="49" charset="0"/>
              </a:rPr>
              <a:t>A[4][4]</a:t>
            </a:r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EBE50C9-EC5C-27B9-5105-A9DF0F70C497}"/>
              </a:ext>
            </a:extLst>
          </p:cNvPr>
          <p:cNvGraphicFramePr>
            <a:graphicFrameLocks noGrp="1"/>
          </p:cNvGraphicFramePr>
          <p:nvPr/>
        </p:nvGraphicFramePr>
        <p:xfrm>
          <a:off x="8051454" y="1802552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411478034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925402356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4164655163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836302842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124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7C07078-37E9-2464-C5A8-F6BC363C275B}"/>
              </a:ext>
            </a:extLst>
          </p:cNvPr>
          <p:cNvGraphicFramePr>
            <a:graphicFrameLocks noGrp="1"/>
          </p:cNvGraphicFramePr>
          <p:nvPr/>
        </p:nvGraphicFramePr>
        <p:xfrm>
          <a:off x="8051454" y="3070597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288954089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28952274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753513597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48688957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75382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1CE6B5D-7590-1F86-4057-9B92729ACD55}"/>
              </a:ext>
            </a:extLst>
          </p:cNvPr>
          <p:cNvGraphicFramePr>
            <a:graphicFrameLocks noGrp="1"/>
          </p:cNvGraphicFramePr>
          <p:nvPr/>
        </p:nvGraphicFramePr>
        <p:xfrm>
          <a:off x="8051454" y="4338642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359255121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166676216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012900145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304445010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11783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709656-9662-A703-77E4-0CAEC7D7F5D9}"/>
              </a:ext>
            </a:extLst>
          </p:cNvPr>
          <p:cNvGraphicFramePr>
            <a:graphicFrameLocks noGrp="1"/>
          </p:cNvGraphicFramePr>
          <p:nvPr/>
        </p:nvGraphicFramePr>
        <p:xfrm>
          <a:off x="8051454" y="5606687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61955750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876827581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882679637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024082833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3408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AA8FCB7-DC26-4F11-5262-ABDAC8375FEB}"/>
              </a:ext>
            </a:extLst>
          </p:cNvPr>
          <p:cNvSpPr txBox="1"/>
          <p:nvPr/>
        </p:nvSpPr>
        <p:spPr>
          <a:xfrm>
            <a:off x="6054110" y="1887933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C000"/>
                </a:solidFill>
                <a:latin typeface="+mj-lt"/>
              </a:rPr>
              <a:t>Rank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0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D6B185-2DE9-2267-D62D-D6C8731879F0}"/>
              </a:ext>
            </a:extLst>
          </p:cNvPr>
          <p:cNvSpPr txBox="1"/>
          <p:nvPr/>
        </p:nvSpPr>
        <p:spPr>
          <a:xfrm>
            <a:off x="6054110" y="3148265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latin typeface="+mj-lt"/>
              </a:rPr>
              <a:t>Rank 1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471FD1-2241-DD5E-809C-B963C99D0EEE}"/>
              </a:ext>
            </a:extLst>
          </p:cNvPr>
          <p:cNvSpPr txBox="1"/>
          <p:nvPr/>
        </p:nvSpPr>
        <p:spPr>
          <a:xfrm>
            <a:off x="6054110" y="4416310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9FA80"/>
                </a:solidFill>
                <a:latin typeface="+mj-lt"/>
              </a:rPr>
              <a:t>Rank 2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045D1-2AE6-2CEA-C4C8-9BCC03F46C94}"/>
              </a:ext>
            </a:extLst>
          </p:cNvPr>
          <p:cNvSpPr txBox="1"/>
          <p:nvPr/>
        </p:nvSpPr>
        <p:spPr>
          <a:xfrm>
            <a:off x="6054110" y="5684355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F0"/>
                </a:solidFill>
                <a:latin typeface="+mj-lt"/>
              </a:rPr>
              <a:t>Rank 3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B63572B-1551-B723-475F-FE1A30D4AADB}"/>
              </a:ext>
            </a:extLst>
          </p:cNvPr>
          <p:cNvCxnSpPr>
            <a:cxnSpLocks/>
          </p:cNvCxnSpPr>
          <p:nvPr/>
        </p:nvCxnSpPr>
        <p:spPr>
          <a:xfrm flipV="1">
            <a:off x="3992015" y="2257265"/>
            <a:ext cx="1997166" cy="1547480"/>
          </a:xfrm>
          <a:prstGeom prst="straightConnector1">
            <a:avLst/>
          </a:prstGeom>
          <a:ln w="50800">
            <a:solidFill>
              <a:srgbClr val="FFC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976376E-B757-5D2A-4BF7-BBB4154D2DDC}"/>
              </a:ext>
            </a:extLst>
          </p:cNvPr>
          <p:cNvCxnSpPr>
            <a:cxnSpLocks/>
          </p:cNvCxnSpPr>
          <p:nvPr/>
        </p:nvCxnSpPr>
        <p:spPr>
          <a:xfrm flipV="1">
            <a:off x="3992015" y="3447594"/>
            <a:ext cx="1997166" cy="1098130"/>
          </a:xfrm>
          <a:prstGeom prst="straightConnector1">
            <a:avLst/>
          </a:prstGeom>
          <a:ln w="50800">
            <a:solidFill>
              <a:srgbClr val="FFFF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E0955D3-6FC0-9D9F-B4E0-6097BB3DDE28}"/>
              </a:ext>
            </a:extLst>
          </p:cNvPr>
          <p:cNvCxnSpPr>
            <a:cxnSpLocks/>
          </p:cNvCxnSpPr>
          <p:nvPr/>
        </p:nvCxnSpPr>
        <p:spPr>
          <a:xfrm flipV="1">
            <a:off x="3992015" y="4600976"/>
            <a:ext cx="1984110" cy="654196"/>
          </a:xfrm>
          <a:prstGeom prst="straightConnector1">
            <a:avLst/>
          </a:prstGeom>
          <a:ln w="50800">
            <a:solidFill>
              <a:srgbClr val="09FA8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5C54F51-8859-E339-A33F-777CBF942E34}"/>
              </a:ext>
            </a:extLst>
          </p:cNvPr>
          <p:cNvCxnSpPr>
            <a:cxnSpLocks/>
          </p:cNvCxnSpPr>
          <p:nvPr/>
        </p:nvCxnSpPr>
        <p:spPr>
          <a:xfrm flipV="1">
            <a:off x="3992015" y="5869021"/>
            <a:ext cx="1984110" cy="106110"/>
          </a:xfrm>
          <a:prstGeom prst="straightConnector1">
            <a:avLst/>
          </a:prstGeom>
          <a:ln w="50800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FC358D3-E237-5229-EE6D-21E1C4CD049B}"/>
              </a:ext>
            </a:extLst>
          </p:cNvPr>
          <p:cNvSpPr txBox="1"/>
          <p:nvPr/>
        </p:nvSpPr>
        <p:spPr>
          <a:xfrm>
            <a:off x="519223" y="1244814"/>
            <a:ext cx="3967975" cy="1323439"/>
          </a:xfrm>
          <a:prstGeom prst="rect">
            <a:avLst/>
          </a:prstGeom>
          <a:solidFill>
            <a:srgbClr val="1F1F1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0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MPI_Type_contiguous</a:t>
            </a:r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count</a:t>
            </a:r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MPI_Datatype </a:t>
            </a:r>
            <a:r>
              <a:rPr lang="en-US" sz="20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oldtype</a:t>
            </a:r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MPI_Datatype </a:t>
            </a:r>
            <a:r>
              <a:rPr lang="en-US" sz="2000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sz="20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newtype</a:t>
            </a:r>
            <a:r>
              <a:rPr lang="en-US" sz="20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B09DF92-25ED-5559-E6BD-B978127205D0}"/>
              </a:ext>
            </a:extLst>
          </p:cNvPr>
          <p:cNvSpPr txBox="1"/>
          <p:nvPr/>
        </p:nvSpPr>
        <p:spPr>
          <a:xfrm>
            <a:off x="1714500" y="6382198"/>
            <a:ext cx="154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  <a:latin typeface="+mj-lt"/>
              </a:rPr>
              <a:t>Rank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782477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  <p:bldP spid="29" grpId="0" animBg="1"/>
      <p:bldP spid="23" grpId="0" animBg="1"/>
      <p:bldP spid="18" grpId="0"/>
      <p:bldP spid="28" grpId="0"/>
      <p:bldP spid="31" grpId="0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B20581-FA20-19C1-A180-C218DAF33D68}"/>
              </a:ext>
            </a:extLst>
          </p:cNvPr>
          <p:cNvSpPr/>
          <p:nvPr/>
        </p:nvSpPr>
        <p:spPr>
          <a:xfrm>
            <a:off x="525162" y="2722701"/>
            <a:ext cx="3923270" cy="3999261"/>
          </a:xfrm>
          <a:prstGeom prst="roundRect">
            <a:avLst/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4239CA-4872-6974-99E6-0E833896A5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327359"/>
              </p:ext>
            </p:extLst>
          </p:nvPr>
        </p:nvGraphicFramePr>
        <p:xfrm>
          <a:off x="1020151" y="3449928"/>
          <a:ext cx="2894964" cy="28949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44F405-3700-AA3B-8B9B-47635A739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803074"/>
              </p:ext>
            </p:extLst>
          </p:nvPr>
        </p:nvGraphicFramePr>
        <p:xfrm>
          <a:off x="1020151" y="3449928"/>
          <a:ext cx="2894964" cy="28949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FCFBE0-0B82-5C53-48E4-AF39FBCF62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455857"/>
              </p:ext>
            </p:extLst>
          </p:nvPr>
        </p:nvGraphicFramePr>
        <p:xfrm>
          <a:off x="1020151" y="3449928"/>
          <a:ext cx="2894964" cy="28949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Exercise.1				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Derived Data Types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BAC4BA-F40B-7E49-0F55-845C70CB0B7C}"/>
              </a:ext>
            </a:extLst>
          </p:cNvPr>
          <p:cNvSpPr/>
          <p:nvPr/>
        </p:nvSpPr>
        <p:spPr>
          <a:xfrm>
            <a:off x="6098815" y="5560048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6C4945-0262-4999-27CB-38B56DC5935F}"/>
              </a:ext>
            </a:extLst>
          </p:cNvPr>
          <p:cNvSpPr/>
          <p:nvPr/>
        </p:nvSpPr>
        <p:spPr>
          <a:xfrm>
            <a:off x="6098815" y="4292003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0879C1-B8E3-54A8-2D0F-CA9E481509C7}"/>
              </a:ext>
            </a:extLst>
          </p:cNvPr>
          <p:cNvSpPr/>
          <p:nvPr/>
        </p:nvSpPr>
        <p:spPr>
          <a:xfrm>
            <a:off x="6098815" y="3023958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8A7CDA7-627B-ACD5-79A3-81F072B360CB}"/>
              </a:ext>
            </a:extLst>
          </p:cNvPr>
          <p:cNvSpPr/>
          <p:nvPr/>
        </p:nvSpPr>
        <p:spPr>
          <a:xfrm>
            <a:off x="6098815" y="1755913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108814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1088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A0DF4-EA1D-BE42-BF4E-ED5AEDDCB37A}"/>
              </a:ext>
            </a:extLst>
          </p:cNvPr>
          <p:cNvSpPr txBox="1"/>
          <p:nvPr/>
        </p:nvSpPr>
        <p:spPr>
          <a:xfrm>
            <a:off x="1317246" y="2722701"/>
            <a:ext cx="23391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ptos Mono" panose="020B0009020202020204" pitchFamily="49" charset="0"/>
              </a:rPr>
              <a:t>A[4][4]</a:t>
            </a:r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EBE50C9-EC5C-27B9-5105-A9DF0F70C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280673"/>
              </p:ext>
            </p:extLst>
          </p:nvPr>
        </p:nvGraphicFramePr>
        <p:xfrm>
          <a:off x="8051454" y="1802552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411478034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925402356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4164655163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836302842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6991242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7C07078-37E9-2464-C5A8-F6BC363C2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962177"/>
              </p:ext>
            </p:extLst>
          </p:nvPr>
        </p:nvGraphicFramePr>
        <p:xfrm>
          <a:off x="8051454" y="3070597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288954089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28952274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753513597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48688957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1753829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1CE6B5D-7590-1F86-4057-9B92729AC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8284299"/>
              </p:ext>
            </p:extLst>
          </p:nvPr>
        </p:nvGraphicFramePr>
        <p:xfrm>
          <a:off x="8051454" y="4338642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359255121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166676216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012900145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2304445010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117833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709656-9662-A703-77E4-0CAEC7D7F5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341787"/>
              </p:ext>
            </p:extLst>
          </p:nvPr>
        </p:nvGraphicFramePr>
        <p:xfrm>
          <a:off x="8051454" y="5606687"/>
          <a:ext cx="2894964" cy="524669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61955750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876827581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882679637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1024082833"/>
                    </a:ext>
                  </a:extLst>
                </a:gridCol>
              </a:tblGrid>
              <a:tr h="524669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3408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AA8FCB7-DC26-4F11-5262-ABDAC8375FEB}"/>
              </a:ext>
            </a:extLst>
          </p:cNvPr>
          <p:cNvSpPr txBox="1"/>
          <p:nvPr/>
        </p:nvSpPr>
        <p:spPr>
          <a:xfrm>
            <a:off x="6054110" y="1887933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C000"/>
                </a:solidFill>
                <a:latin typeface="+mj-lt"/>
              </a:rPr>
              <a:t>Rank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0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D6B185-2DE9-2267-D62D-D6C8731879F0}"/>
              </a:ext>
            </a:extLst>
          </p:cNvPr>
          <p:cNvSpPr txBox="1"/>
          <p:nvPr/>
        </p:nvSpPr>
        <p:spPr>
          <a:xfrm>
            <a:off x="6054110" y="3148265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latin typeface="+mj-lt"/>
              </a:rPr>
              <a:t>Rank 1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471FD1-2241-DD5E-809C-B963C99D0EEE}"/>
              </a:ext>
            </a:extLst>
          </p:cNvPr>
          <p:cNvSpPr txBox="1"/>
          <p:nvPr/>
        </p:nvSpPr>
        <p:spPr>
          <a:xfrm>
            <a:off x="6054110" y="4416310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9FA80"/>
                </a:solidFill>
                <a:latin typeface="+mj-lt"/>
              </a:rPr>
              <a:t>Rank 2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045D1-2AE6-2CEA-C4C8-9BCC03F46C94}"/>
              </a:ext>
            </a:extLst>
          </p:cNvPr>
          <p:cNvSpPr txBox="1"/>
          <p:nvPr/>
        </p:nvSpPr>
        <p:spPr>
          <a:xfrm>
            <a:off x="6054110" y="5684355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F0"/>
                </a:solidFill>
                <a:latin typeface="+mj-lt"/>
              </a:rPr>
              <a:t>Rank 3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B[4]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5C15EB6E-937F-A939-4E6A-3E00F036ECF7}"/>
              </a:ext>
            </a:extLst>
          </p:cNvPr>
          <p:cNvSpPr/>
          <p:nvPr/>
        </p:nvSpPr>
        <p:spPr>
          <a:xfrm>
            <a:off x="955706" y="3368302"/>
            <a:ext cx="3023855" cy="3058216"/>
          </a:xfrm>
          <a:custGeom>
            <a:avLst/>
            <a:gdLst>
              <a:gd name="connsiteX0" fmla="*/ 173320 w 3023855"/>
              <a:gd name="connsiteY0" fmla="*/ 59001 h 3058216"/>
              <a:gd name="connsiteX1" fmla="*/ 48578 w 3023855"/>
              <a:gd name="connsiteY1" fmla="*/ 183743 h 3058216"/>
              <a:gd name="connsiteX2" fmla="*/ 48578 w 3023855"/>
              <a:gd name="connsiteY2" fmla="*/ 2862118 h 3058216"/>
              <a:gd name="connsiteX3" fmla="*/ 173320 w 3023855"/>
              <a:gd name="connsiteY3" fmla="*/ 2986860 h 3058216"/>
              <a:gd name="connsiteX4" fmla="*/ 672274 w 3023855"/>
              <a:gd name="connsiteY4" fmla="*/ 2986860 h 3058216"/>
              <a:gd name="connsiteX5" fmla="*/ 797016 w 3023855"/>
              <a:gd name="connsiteY5" fmla="*/ 2862118 h 3058216"/>
              <a:gd name="connsiteX6" fmla="*/ 797016 w 3023855"/>
              <a:gd name="connsiteY6" fmla="*/ 183743 h 3058216"/>
              <a:gd name="connsiteX7" fmla="*/ 672274 w 3023855"/>
              <a:gd name="connsiteY7" fmla="*/ 59001 h 3058216"/>
              <a:gd name="connsiteX8" fmla="*/ 0 w 3023855"/>
              <a:gd name="connsiteY8" fmla="*/ 0 h 3058216"/>
              <a:gd name="connsiteX9" fmla="*/ 3023855 w 3023855"/>
              <a:gd name="connsiteY9" fmla="*/ 0 h 3058216"/>
              <a:gd name="connsiteX10" fmla="*/ 3023855 w 3023855"/>
              <a:gd name="connsiteY10" fmla="*/ 3058216 h 3058216"/>
              <a:gd name="connsiteX11" fmla="*/ 0 w 3023855"/>
              <a:gd name="connsiteY11" fmla="*/ 3058216 h 305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855" h="3058216">
                <a:moveTo>
                  <a:pt x="173320" y="59001"/>
                </a:moveTo>
                <a:cubicBezTo>
                  <a:pt x="104427" y="59001"/>
                  <a:pt x="48578" y="114850"/>
                  <a:pt x="48578" y="183743"/>
                </a:cubicBezTo>
                <a:lnTo>
                  <a:pt x="48578" y="2862118"/>
                </a:lnTo>
                <a:cubicBezTo>
                  <a:pt x="48578" y="2931011"/>
                  <a:pt x="104427" y="2986860"/>
                  <a:pt x="173320" y="2986860"/>
                </a:cubicBezTo>
                <a:lnTo>
                  <a:pt x="672274" y="2986860"/>
                </a:lnTo>
                <a:cubicBezTo>
                  <a:pt x="741167" y="2986860"/>
                  <a:pt x="797016" y="2931011"/>
                  <a:pt x="797016" y="2862118"/>
                </a:cubicBezTo>
                <a:lnTo>
                  <a:pt x="797016" y="183743"/>
                </a:lnTo>
                <a:cubicBezTo>
                  <a:pt x="797016" y="114850"/>
                  <a:pt x="741167" y="59001"/>
                  <a:pt x="672274" y="59001"/>
                </a:cubicBezTo>
                <a:close/>
                <a:moveTo>
                  <a:pt x="0" y="0"/>
                </a:moveTo>
                <a:lnTo>
                  <a:pt x="3023855" y="0"/>
                </a:lnTo>
                <a:lnTo>
                  <a:pt x="3023855" y="3058216"/>
                </a:lnTo>
                <a:lnTo>
                  <a:pt x="0" y="3058216"/>
                </a:lnTo>
                <a:close/>
              </a:path>
            </a:pathLst>
          </a:custGeom>
          <a:solidFill>
            <a:schemeClr val="bg2">
              <a:lumMod val="50000"/>
              <a:alpha val="81000"/>
            </a:schemeClr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10B394D-E7A6-042C-F28F-5704059D303D}"/>
              </a:ext>
            </a:extLst>
          </p:cNvPr>
          <p:cNvCxnSpPr>
            <a:cxnSpLocks/>
          </p:cNvCxnSpPr>
          <p:nvPr/>
        </p:nvCxnSpPr>
        <p:spPr>
          <a:xfrm flipV="1">
            <a:off x="1822862" y="2310707"/>
            <a:ext cx="4166319" cy="1981296"/>
          </a:xfrm>
          <a:prstGeom prst="straightConnector1">
            <a:avLst/>
          </a:prstGeom>
          <a:ln w="50800">
            <a:solidFill>
              <a:srgbClr val="FFC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65203FD2-E8B2-FBC7-ABBC-8CD85E10BD00}"/>
              </a:ext>
            </a:extLst>
          </p:cNvPr>
          <p:cNvSpPr/>
          <p:nvPr/>
        </p:nvSpPr>
        <p:spPr>
          <a:xfrm>
            <a:off x="955706" y="3368302"/>
            <a:ext cx="3023855" cy="3058216"/>
          </a:xfrm>
          <a:custGeom>
            <a:avLst/>
            <a:gdLst>
              <a:gd name="connsiteX0" fmla="*/ 903655 w 3023855"/>
              <a:gd name="connsiteY0" fmla="*/ 59001 h 3058216"/>
              <a:gd name="connsiteX1" fmla="*/ 778913 w 3023855"/>
              <a:gd name="connsiteY1" fmla="*/ 183743 h 3058216"/>
              <a:gd name="connsiteX2" fmla="*/ 778913 w 3023855"/>
              <a:gd name="connsiteY2" fmla="*/ 2862118 h 3058216"/>
              <a:gd name="connsiteX3" fmla="*/ 903655 w 3023855"/>
              <a:gd name="connsiteY3" fmla="*/ 2986860 h 3058216"/>
              <a:gd name="connsiteX4" fmla="*/ 1402609 w 3023855"/>
              <a:gd name="connsiteY4" fmla="*/ 2986860 h 3058216"/>
              <a:gd name="connsiteX5" fmla="*/ 1527351 w 3023855"/>
              <a:gd name="connsiteY5" fmla="*/ 2862118 h 3058216"/>
              <a:gd name="connsiteX6" fmla="*/ 1527351 w 3023855"/>
              <a:gd name="connsiteY6" fmla="*/ 183743 h 3058216"/>
              <a:gd name="connsiteX7" fmla="*/ 1402609 w 3023855"/>
              <a:gd name="connsiteY7" fmla="*/ 59001 h 3058216"/>
              <a:gd name="connsiteX8" fmla="*/ 0 w 3023855"/>
              <a:gd name="connsiteY8" fmla="*/ 0 h 3058216"/>
              <a:gd name="connsiteX9" fmla="*/ 3023855 w 3023855"/>
              <a:gd name="connsiteY9" fmla="*/ 0 h 3058216"/>
              <a:gd name="connsiteX10" fmla="*/ 3023855 w 3023855"/>
              <a:gd name="connsiteY10" fmla="*/ 3058216 h 3058216"/>
              <a:gd name="connsiteX11" fmla="*/ 0 w 3023855"/>
              <a:gd name="connsiteY11" fmla="*/ 3058216 h 305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855" h="3058216">
                <a:moveTo>
                  <a:pt x="903655" y="59001"/>
                </a:moveTo>
                <a:cubicBezTo>
                  <a:pt x="834762" y="59001"/>
                  <a:pt x="778913" y="114850"/>
                  <a:pt x="778913" y="183743"/>
                </a:cubicBezTo>
                <a:lnTo>
                  <a:pt x="778913" y="2862118"/>
                </a:lnTo>
                <a:cubicBezTo>
                  <a:pt x="778913" y="2931011"/>
                  <a:pt x="834762" y="2986860"/>
                  <a:pt x="903655" y="2986860"/>
                </a:cubicBezTo>
                <a:lnTo>
                  <a:pt x="1402609" y="2986860"/>
                </a:lnTo>
                <a:cubicBezTo>
                  <a:pt x="1471502" y="2986860"/>
                  <a:pt x="1527351" y="2931011"/>
                  <a:pt x="1527351" y="2862118"/>
                </a:cubicBezTo>
                <a:lnTo>
                  <a:pt x="1527351" y="183743"/>
                </a:lnTo>
                <a:cubicBezTo>
                  <a:pt x="1527351" y="114850"/>
                  <a:pt x="1471502" y="59001"/>
                  <a:pt x="1402609" y="59001"/>
                </a:cubicBezTo>
                <a:close/>
                <a:moveTo>
                  <a:pt x="0" y="0"/>
                </a:moveTo>
                <a:lnTo>
                  <a:pt x="3023855" y="0"/>
                </a:lnTo>
                <a:lnTo>
                  <a:pt x="3023855" y="3058216"/>
                </a:lnTo>
                <a:lnTo>
                  <a:pt x="0" y="3058216"/>
                </a:lnTo>
                <a:close/>
              </a:path>
            </a:pathLst>
          </a:custGeom>
          <a:solidFill>
            <a:schemeClr val="bg2">
              <a:lumMod val="50000"/>
              <a:alpha val="81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C40E487-0A9F-965E-16F4-03BF344F9BE3}"/>
              </a:ext>
            </a:extLst>
          </p:cNvPr>
          <p:cNvCxnSpPr>
            <a:cxnSpLocks/>
          </p:cNvCxnSpPr>
          <p:nvPr/>
        </p:nvCxnSpPr>
        <p:spPr>
          <a:xfrm flipV="1">
            <a:off x="2609953" y="3448662"/>
            <a:ext cx="3323195" cy="1283658"/>
          </a:xfrm>
          <a:prstGeom prst="straightConnector1">
            <a:avLst/>
          </a:prstGeom>
          <a:ln w="50800">
            <a:solidFill>
              <a:srgbClr val="FFFF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610BFB65-BDAD-BB4F-BD8A-868BC0DB6F8C}"/>
              </a:ext>
            </a:extLst>
          </p:cNvPr>
          <p:cNvSpPr/>
          <p:nvPr/>
        </p:nvSpPr>
        <p:spPr>
          <a:xfrm>
            <a:off x="955706" y="3368302"/>
            <a:ext cx="3023855" cy="3058216"/>
          </a:xfrm>
          <a:custGeom>
            <a:avLst/>
            <a:gdLst>
              <a:gd name="connsiteX0" fmla="*/ 1637687 w 3023855"/>
              <a:gd name="connsiteY0" fmla="*/ 65179 h 3058216"/>
              <a:gd name="connsiteX1" fmla="*/ 1512945 w 3023855"/>
              <a:gd name="connsiteY1" fmla="*/ 189921 h 3058216"/>
              <a:gd name="connsiteX2" fmla="*/ 1512945 w 3023855"/>
              <a:gd name="connsiteY2" fmla="*/ 2868296 h 3058216"/>
              <a:gd name="connsiteX3" fmla="*/ 1637687 w 3023855"/>
              <a:gd name="connsiteY3" fmla="*/ 2993038 h 3058216"/>
              <a:gd name="connsiteX4" fmla="*/ 2136641 w 3023855"/>
              <a:gd name="connsiteY4" fmla="*/ 2993038 h 3058216"/>
              <a:gd name="connsiteX5" fmla="*/ 2261383 w 3023855"/>
              <a:gd name="connsiteY5" fmla="*/ 2868296 h 3058216"/>
              <a:gd name="connsiteX6" fmla="*/ 2261383 w 3023855"/>
              <a:gd name="connsiteY6" fmla="*/ 189921 h 3058216"/>
              <a:gd name="connsiteX7" fmla="*/ 2136641 w 3023855"/>
              <a:gd name="connsiteY7" fmla="*/ 65179 h 3058216"/>
              <a:gd name="connsiteX8" fmla="*/ 0 w 3023855"/>
              <a:gd name="connsiteY8" fmla="*/ 0 h 3058216"/>
              <a:gd name="connsiteX9" fmla="*/ 3023855 w 3023855"/>
              <a:gd name="connsiteY9" fmla="*/ 0 h 3058216"/>
              <a:gd name="connsiteX10" fmla="*/ 3023855 w 3023855"/>
              <a:gd name="connsiteY10" fmla="*/ 3058216 h 3058216"/>
              <a:gd name="connsiteX11" fmla="*/ 0 w 3023855"/>
              <a:gd name="connsiteY11" fmla="*/ 3058216 h 305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855" h="3058216">
                <a:moveTo>
                  <a:pt x="1637687" y="65179"/>
                </a:moveTo>
                <a:cubicBezTo>
                  <a:pt x="1568794" y="65179"/>
                  <a:pt x="1512945" y="121028"/>
                  <a:pt x="1512945" y="189921"/>
                </a:cubicBezTo>
                <a:lnTo>
                  <a:pt x="1512945" y="2868296"/>
                </a:lnTo>
                <a:cubicBezTo>
                  <a:pt x="1512945" y="2937189"/>
                  <a:pt x="1568794" y="2993038"/>
                  <a:pt x="1637687" y="2993038"/>
                </a:cubicBezTo>
                <a:lnTo>
                  <a:pt x="2136641" y="2993038"/>
                </a:lnTo>
                <a:cubicBezTo>
                  <a:pt x="2205534" y="2993038"/>
                  <a:pt x="2261383" y="2937189"/>
                  <a:pt x="2261383" y="2868296"/>
                </a:cubicBezTo>
                <a:lnTo>
                  <a:pt x="2261383" y="189921"/>
                </a:lnTo>
                <a:cubicBezTo>
                  <a:pt x="2261383" y="121028"/>
                  <a:pt x="2205534" y="65179"/>
                  <a:pt x="2136641" y="65179"/>
                </a:cubicBezTo>
                <a:close/>
                <a:moveTo>
                  <a:pt x="0" y="0"/>
                </a:moveTo>
                <a:lnTo>
                  <a:pt x="3023855" y="0"/>
                </a:lnTo>
                <a:lnTo>
                  <a:pt x="3023855" y="3058216"/>
                </a:lnTo>
                <a:lnTo>
                  <a:pt x="0" y="3058216"/>
                </a:lnTo>
                <a:close/>
              </a:path>
            </a:pathLst>
          </a:custGeom>
          <a:solidFill>
            <a:schemeClr val="bg2">
              <a:lumMod val="50000"/>
              <a:alpha val="81000"/>
            </a:schemeClr>
          </a:solidFill>
          <a:ln>
            <a:solidFill>
              <a:srgbClr val="09FA8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9265E818-44DC-8DA0-DF23-DEA4F7C735EA}"/>
              </a:ext>
            </a:extLst>
          </p:cNvPr>
          <p:cNvCxnSpPr>
            <a:cxnSpLocks/>
          </p:cNvCxnSpPr>
          <p:nvPr/>
        </p:nvCxnSpPr>
        <p:spPr>
          <a:xfrm flipV="1">
            <a:off x="3259095" y="4732320"/>
            <a:ext cx="2607085" cy="528449"/>
          </a:xfrm>
          <a:prstGeom prst="straightConnector1">
            <a:avLst/>
          </a:prstGeom>
          <a:ln w="50800">
            <a:solidFill>
              <a:srgbClr val="09FA8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AF06B165-C4CB-908D-E561-6D25A57215AE}"/>
              </a:ext>
            </a:extLst>
          </p:cNvPr>
          <p:cNvSpPr/>
          <p:nvPr/>
        </p:nvSpPr>
        <p:spPr>
          <a:xfrm>
            <a:off x="955706" y="3368302"/>
            <a:ext cx="3023855" cy="3058216"/>
          </a:xfrm>
          <a:custGeom>
            <a:avLst/>
            <a:gdLst>
              <a:gd name="connsiteX0" fmla="*/ 2358379 w 3023855"/>
              <a:gd name="connsiteY0" fmla="*/ 65179 h 3058216"/>
              <a:gd name="connsiteX1" fmla="*/ 2233637 w 3023855"/>
              <a:gd name="connsiteY1" fmla="*/ 189921 h 3058216"/>
              <a:gd name="connsiteX2" fmla="*/ 2233637 w 3023855"/>
              <a:gd name="connsiteY2" fmla="*/ 2868296 h 3058216"/>
              <a:gd name="connsiteX3" fmla="*/ 2358379 w 3023855"/>
              <a:gd name="connsiteY3" fmla="*/ 2993038 h 3058216"/>
              <a:gd name="connsiteX4" fmla="*/ 2857333 w 3023855"/>
              <a:gd name="connsiteY4" fmla="*/ 2993038 h 3058216"/>
              <a:gd name="connsiteX5" fmla="*/ 2982075 w 3023855"/>
              <a:gd name="connsiteY5" fmla="*/ 2868296 h 3058216"/>
              <a:gd name="connsiteX6" fmla="*/ 2982075 w 3023855"/>
              <a:gd name="connsiteY6" fmla="*/ 189921 h 3058216"/>
              <a:gd name="connsiteX7" fmla="*/ 2857333 w 3023855"/>
              <a:gd name="connsiteY7" fmla="*/ 65179 h 3058216"/>
              <a:gd name="connsiteX8" fmla="*/ 0 w 3023855"/>
              <a:gd name="connsiteY8" fmla="*/ 0 h 3058216"/>
              <a:gd name="connsiteX9" fmla="*/ 3023855 w 3023855"/>
              <a:gd name="connsiteY9" fmla="*/ 0 h 3058216"/>
              <a:gd name="connsiteX10" fmla="*/ 3023855 w 3023855"/>
              <a:gd name="connsiteY10" fmla="*/ 3058216 h 3058216"/>
              <a:gd name="connsiteX11" fmla="*/ 0 w 3023855"/>
              <a:gd name="connsiteY11" fmla="*/ 3058216 h 30582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023855" h="3058216">
                <a:moveTo>
                  <a:pt x="2358379" y="65179"/>
                </a:moveTo>
                <a:cubicBezTo>
                  <a:pt x="2289486" y="65179"/>
                  <a:pt x="2233637" y="121028"/>
                  <a:pt x="2233637" y="189921"/>
                </a:cubicBezTo>
                <a:lnTo>
                  <a:pt x="2233637" y="2868296"/>
                </a:lnTo>
                <a:cubicBezTo>
                  <a:pt x="2233637" y="2937189"/>
                  <a:pt x="2289486" y="2993038"/>
                  <a:pt x="2358379" y="2993038"/>
                </a:cubicBezTo>
                <a:lnTo>
                  <a:pt x="2857333" y="2993038"/>
                </a:lnTo>
                <a:cubicBezTo>
                  <a:pt x="2926226" y="2993038"/>
                  <a:pt x="2982075" y="2937189"/>
                  <a:pt x="2982075" y="2868296"/>
                </a:cubicBezTo>
                <a:lnTo>
                  <a:pt x="2982075" y="189921"/>
                </a:lnTo>
                <a:cubicBezTo>
                  <a:pt x="2982075" y="121028"/>
                  <a:pt x="2926226" y="65179"/>
                  <a:pt x="2857333" y="65179"/>
                </a:cubicBezTo>
                <a:close/>
                <a:moveTo>
                  <a:pt x="0" y="0"/>
                </a:moveTo>
                <a:lnTo>
                  <a:pt x="3023855" y="0"/>
                </a:lnTo>
                <a:lnTo>
                  <a:pt x="3023855" y="3058216"/>
                </a:lnTo>
                <a:lnTo>
                  <a:pt x="0" y="3058216"/>
                </a:lnTo>
                <a:close/>
              </a:path>
            </a:pathLst>
          </a:custGeom>
          <a:solidFill>
            <a:schemeClr val="bg2">
              <a:lumMod val="50000"/>
              <a:alpha val="81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676B8482-8E4A-50FD-AF0B-C22310561FAA}"/>
              </a:ext>
            </a:extLst>
          </p:cNvPr>
          <p:cNvCxnSpPr>
            <a:cxnSpLocks/>
          </p:cNvCxnSpPr>
          <p:nvPr/>
        </p:nvCxnSpPr>
        <p:spPr>
          <a:xfrm flipV="1">
            <a:off x="3908872" y="5852772"/>
            <a:ext cx="1957308" cy="107457"/>
          </a:xfrm>
          <a:prstGeom prst="straightConnector1">
            <a:avLst/>
          </a:prstGeom>
          <a:ln w="50800">
            <a:solidFill>
              <a:srgbClr val="00B0F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C0BF195-3652-C873-4B63-1AF2C68C5BEC}"/>
              </a:ext>
            </a:extLst>
          </p:cNvPr>
          <p:cNvSpPr txBox="1"/>
          <p:nvPr/>
        </p:nvSpPr>
        <p:spPr>
          <a:xfrm>
            <a:off x="1714500" y="6382198"/>
            <a:ext cx="1544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C000"/>
                </a:solidFill>
                <a:latin typeface="+mj-lt"/>
              </a:rPr>
              <a:t>Rank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0</a:t>
            </a:r>
          </a:p>
        </p:txBody>
      </p:sp>
      <p:sp>
        <p:nvSpPr>
          <p:cNvPr id="95" name="Content Placeholder 3">
            <a:extLst>
              <a:ext uri="{FF2B5EF4-FFF2-40B4-BE49-F238E27FC236}">
                <a16:creationId xmlns:a16="http://schemas.microsoft.com/office/drawing/2014/main" id="{840146E4-8D62-73E7-1D9B-A75F021EA6A9}"/>
              </a:ext>
            </a:extLst>
          </p:cNvPr>
          <p:cNvSpPr txBox="1">
            <a:spLocks/>
          </p:cNvSpPr>
          <p:nvPr/>
        </p:nvSpPr>
        <p:spPr>
          <a:xfrm>
            <a:off x="3259095" y="402685"/>
            <a:ext cx="3242645" cy="63092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ddt.2.vector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6CB6981-5465-911C-F0E5-F9DDC78CE4EB}"/>
              </a:ext>
            </a:extLst>
          </p:cNvPr>
          <p:cNvSpPr txBox="1"/>
          <p:nvPr/>
        </p:nvSpPr>
        <p:spPr>
          <a:xfrm>
            <a:off x="525162" y="1100850"/>
            <a:ext cx="3923270" cy="1569660"/>
          </a:xfrm>
          <a:prstGeom prst="rect">
            <a:avLst/>
          </a:prstGeom>
          <a:solidFill>
            <a:srgbClr val="1F1F1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MPI_Type_vector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count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blocklen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stride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MPI_Datatype </a:t>
            </a:r>
            <a:r>
              <a:rPr lang="en-US" sz="16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oldtype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MPI_Datatype </a:t>
            </a:r>
            <a:r>
              <a:rPr lang="en-US" sz="1600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newtype</a:t>
            </a:r>
            <a:r>
              <a:rPr lang="en-US" sz="1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9788A1B-FCE6-DCA1-B5C7-7082399BC9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0329112"/>
              </p:ext>
            </p:extLst>
          </p:nvPr>
        </p:nvGraphicFramePr>
        <p:xfrm>
          <a:off x="1018578" y="3452346"/>
          <a:ext cx="2894964" cy="289496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23741">
                  <a:extLst>
                    <a:ext uri="{9D8B030D-6E8A-4147-A177-3AD203B41FA5}">
                      <a16:colId xmlns:a16="http://schemas.microsoft.com/office/drawing/2014/main" val="720733382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729569308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056320099"/>
                    </a:ext>
                  </a:extLst>
                </a:gridCol>
                <a:gridCol w="723741">
                  <a:extLst>
                    <a:ext uri="{9D8B030D-6E8A-4147-A177-3AD203B41FA5}">
                      <a16:colId xmlns:a16="http://schemas.microsoft.com/office/drawing/2014/main" val="3414016575"/>
                    </a:ext>
                  </a:extLst>
                </a:gridCol>
              </a:tblGrid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69451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7.0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8.0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78335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9.0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10.0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11.0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12.0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069949"/>
                  </a:ext>
                </a:extLst>
              </a:tr>
              <a:tr h="723741"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13.0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14.0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15.0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cap="none" spc="0" dirty="0">
                          <a:ln w="0"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19050" dir="2700000" algn="tl" rotWithShape="0">
                              <a:schemeClr val="dk1">
                                <a:alpha val="40000"/>
                              </a:schemeClr>
                            </a:outerShdw>
                          </a:effectLst>
                          <a:latin typeface="Aptos Mono" panose="020B0009020202020204" pitchFamily="49" charset="0"/>
                        </a:rPr>
                        <a:t>16.0</a:t>
                      </a:r>
                    </a:p>
                  </a:txBody>
                  <a:tcPr marL="82713" marR="82713" marT="41357" marB="41357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72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980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  <p:bldP spid="29" grpId="0" animBg="1"/>
      <p:bldP spid="23" grpId="0" animBg="1"/>
      <p:bldP spid="18" grpId="0"/>
      <p:bldP spid="28" grpId="0"/>
      <p:bldP spid="31" grpId="0"/>
      <p:bldP spid="32" grpId="0"/>
      <p:bldP spid="75" grpId="0" animBg="1"/>
      <p:bldP spid="75" grpId="1" animBg="1"/>
      <p:bldP spid="78" grpId="0" animBg="1"/>
      <p:bldP spid="78" grpId="1" animBg="1"/>
      <p:bldP spid="84" grpId="0" animBg="1"/>
      <p:bldP spid="84" grpId="1" animBg="1"/>
      <p:bldP spid="88" grpId="0" animBg="1"/>
      <p:bldP spid="8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23">
            <a:extLst>
              <a:ext uri="{FF2B5EF4-FFF2-40B4-BE49-F238E27FC236}">
                <a16:creationId xmlns:a16="http://schemas.microsoft.com/office/drawing/2014/main" id="{36F8E444-52D5-A92C-7828-58886F4BFFED}"/>
              </a:ext>
            </a:extLst>
          </p:cNvPr>
          <p:cNvSpPr txBox="1"/>
          <p:nvPr/>
        </p:nvSpPr>
        <p:spPr>
          <a:xfrm>
            <a:off x="32634" y="1124604"/>
            <a:ext cx="3861771" cy="1754326"/>
          </a:xfrm>
          <a:prstGeom prst="rect">
            <a:avLst/>
          </a:prstGeom>
          <a:solidFill>
            <a:srgbClr val="1F1F1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MPI_Type_indexed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CCCCCC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count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*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array_of_blocklens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</a:t>
            </a:r>
            <a:r>
              <a:rPr lang="en-US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*</a:t>
            </a:r>
            <a:r>
              <a:rPr lang="en-US" dirty="0">
                <a:solidFill>
                  <a:srgbClr val="9CDCFE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array_of_displacements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MPI_Datatype 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oldtype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MPI_Datatype </a:t>
            </a:r>
            <a:r>
              <a:rPr lang="en-US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newtype</a:t>
            </a:r>
            <a:r>
              <a:rPr lang="en-US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5BAC4BA-F40B-7E49-0F55-845C70CB0B7C}"/>
              </a:ext>
            </a:extLst>
          </p:cNvPr>
          <p:cNvSpPr/>
          <p:nvPr/>
        </p:nvSpPr>
        <p:spPr>
          <a:xfrm>
            <a:off x="6318518" y="5862885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06C4945-0262-4999-27CB-38B56DC5935F}"/>
              </a:ext>
            </a:extLst>
          </p:cNvPr>
          <p:cNvSpPr/>
          <p:nvPr/>
        </p:nvSpPr>
        <p:spPr>
          <a:xfrm>
            <a:off x="6318518" y="4962982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Exercise.1				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Derived Data Types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108814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1088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A0DF4-EA1D-BE42-BF4E-ED5AEDDCB37A}"/>
              </a:ext>
            </a:extLst>
          </p:cNvPr>
          <p:cNvSpPr txBox="1"/>
          <p:nvPr/>
        </p:nvSpPr>
        <p:spPr>
          <a:xfrm>
            <a:off x="3934423" y="1663278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ptos Mono" panose="020B0009020202020204" pitchFamily="49" charset="0"/>
              </a:rPr>
              <a:t>A[16]</a:t>
            </a:r>
            <a:endParaRPr lang="en-US" dirty="0">
              <a:solidFill>
                <a:schemeClr val="bg1"/>
              </a:solidFill>
              <a:latin typeface="Aptos Mono" panose="020B00090202020202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471FD1-2241-DD5E-809C-B963C99D0EEE}"/>
              </a:ext>
            </a:extLst>
          </p:cNvPr>
          <p:cNvSpPr txBox="1"/>
          <p:nvPr/>
        </p:nvSpPr>
        <p:spPr>
          <a:xfrm>
            <a:off x="6273813" y="5087289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9FA80"/>
                </a:solidFill>
                <a:latin typeface="+mj-lt"/>
              </a:rPr>
              <a:t>Rank 2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B[6]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0045D1-2AE6-2CEA-C4C8-9BCC03F46C94}"/>
              </a:ext>
            </a:extLst>
          </p:cNvPr>
          <p:cNvSpPr txBox="1"/>
          <p:nvPr/>
        </p:nvSpPr>
        <p:spPr>
          <a:xfrm>
            <a:off x="6273813" y="5987192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00B0F0"/>
                </a:solidFill>
                <a:latin typeface="+mj-lt"/>
              </a:rPr>
              <a:t>Rank 3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B[6]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6503A18-2487-A422-20D5-849C080BA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80639"/>
              </p:ext>
            </p:extLst>
          </p:nvPr>
        </p:nvGraphicFramePr>
        <p:xfrm>
          <a:off x="3934423" y="2369857"/>
          <a:ext cx="8145168" cy="5090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509073">
                  <a:extLst>
                    <a:ext uri="{9D8B030D-6E8A-4147-A177-3AD203B41FA5}">
                      <a16:colId xmlns:a16="http://schemas.microsoft.com/office/drawing/2014/main" val="677688985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958403310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148685107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4080006960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689464146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459249440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1746502333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202123106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12276373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739527306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3711634455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1334457257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2856156787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1835338411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2946323806"/>
                    </a:ext>
                  </a:extLst>
                </a:gridCol>
                <a:gridCol w="509073">
                  <a:extLst>
                    <a:ext uri="{9D8B030D-6E8A-4147-A177-3AD203B41FA5}">
                      <a16:colId xmlns:a16="http://schemas.microsoft.com/office/drawing/2014/main" val="2551375343"/>
                    </a:ext>
                  </a:extLst>
                </a:gridCol>
              </a:tblGrid>
              <a:tr h="509073"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10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11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12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15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700" dirty="0">
                          <a:solidFill>
                            <a:schemeClr val="bg2">
                              <a:lumMod val="90000"/>
                            </a:schemeClr>
                          </a:solidFill>
                        </a:rPr>
                        <a:t>16</a:t>
                      </a:r>
                    </a:p>
                  </a:txBody>
                  <a:tcPr marL="127269" marR="127269" marT="63634" marB="63634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29808"/>
                  </a:ext>
                </a:extLst>
              </a:tr>
            </a:tbl>
          </a:graphicData>
        </a:graphic>
      </p:graphicFrame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60879C1-B8E3-54A8-2D0F-CA9E481509C7}"/>
              </a:ext>
            </a:extLst>
          </p:cNvPr>
          <p:cNvSpPr/>
          <p:nvPr/>
        </p:nvSpPr>
        <p:spPr>
          <a:xfrm>
            <a:off x="848001" y="5862885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8A7CDA7-627B-ACD5-79A3-81F072B360CB}"/>
              </a:ext>
            </a:extLst>
          </p:cNvPr>
          <p:cNvSpPr/>
          <p:nvPr/>
        </p:nvSpPr>
        <p:spPr>
          <a:xfrm>
            <a:off x="848001" y="4962982"/>
            <a:ext cx="5121876" cy="617947"/>
          </a:xfrm>
          <a:prstGeom prst="roundRect">
            <a:avLst>
              <a:gd name="adj" fmla="val 43662"/>
            </a:avLst>
          </a:prstGeom>
          <a:solidFill>
            <a:schemeClr val="bg2">
              <a:lumMod val="75000"/>
              <a:alpha val="24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A8FCB7-DC26-4F11-5262-ABDAC8375FEB}"/>
              </a:ext>
            </a:extLst>
          </p:cNvPr>
          <p:cNvSpPr txBox="1"/>
          <p:nvPr/>
        </p:nvSpPr>
        <p:spPr>
          <a:xfrm>
            <a:off x="803296" y="5095002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C000"/>
                </a:solidFill>
                <a:latin typeface="+mj-lt"/>
              </a:rPr>
              <a:t>Rank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0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B[6]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D6B185-2DE9-2267-D62D-D6C8731879F0}"/>
              </a:ext>
            </a:extLst>
          </p:cNvPr>
          <p:cNvSpPr txBox="1"/>
          <p:nvPr/>
        </p:nvSpPr>
        <p:spPr>
          <a:xfrm>
            <a:off x="803296" y="5987192"/>
            <a:ext cx="1984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FF00"/>
                </a:solidFill>
                <a:latin typeface="+mj-lt"/>
              </a:rPr>
              <a:t>Rank 1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    </a:t>
            </a:r>
            <a:r>
              <a:rPr lang="en-US" dirty="0">
                <a:solidFill>
                  <a:schemeClr val="bg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B[6]</a:t>
            </a:r>
            <a:r>
              <a:rPr lang="en-US" sz="1100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solidFill>
                  <a:schemeClr val="bg2">
                    <a:lumMod val="90000"/>
                  </a:schemeClr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= </a:t>
            </a:r>
          </a:p>
        </p:txBody>
      </p:sp>
      <p:sp>
        <p:nvSpPr>
          <p:cNvPr id="33" name="Content Placeholder 3">
            <a:extLst>
              <a:ext uri="{FF2B5EF4-FFF2-40B4-BE49-F238E27FC236}">
                <a16:creationId xmlns:a16="http://schemas.microsoft.com/office/drawing/2014/main" id="{3172EFE5-77D3-3404-8CA4-5B0A9E2B0CE0}"/>
              </a:ext>
            </a:extLst>
          </p:cNvPr>
          <p:cNvSpPr txBox="1">
            <a:spLocks/>
          </p:cNvSpPr>
          <p:nvPr/>
        </p:nvSpPr>
        <p:spPr>
          <a:xfrm>
            <a:off x="3259095" y="402685"/>
            <a:ext cx="3242645" cy="63092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ddt.3.indexed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C1A6D3-1577-C096-A558-FED872F7BD5E}"/>
              </a:ext>
            </a:extLst>
          </p:cNvPr>
          <p:cNvSpPr txBox="1"/>
          <p:nvPr/>
        </p:nvSpPr>
        <p:spPr>
          <a:xfrm>
            <a:off x="3944907" y="1419129"/>
            <a:ext cx="2020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  <a:latin typeface="+mj-lt"/>
              </a:rPr>
              <a:t>Rank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0</a:t>
            </a:r>
            <a:endParaRPr lang="en-US" dirty="0">
              <a:solidFill>
                <a:schemeClr val="bg2">
                  <a:lumMod val="90000"/>
                </a:schemeClr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D552D45-9AC1-AD3F-3932-A108DBD25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320346"/>
              </p:ext>
            </p:extLst>
          </p:nvPr>
        </p:nvGraphicFramePr>
        <p:xfrm>
          <a:off x="2787584" y="5040341"/>
          <a:ext cx="188376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738234264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11615477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043642849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656623867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70853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7A7D828-C10E-E5FD-2959-8E0131FE9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540246"/>
              </p:ext>
            </p:extLst>
          </p:nvPr>
        </p:nvGraphicFramePr>
        <p:xfrm>
          <a:off x="4673670" y="5040341"/>
          <a:ext cx="94188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1794994316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702356832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3554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B2209B3F-0D3D-D5DE-9245-396CAD4661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937465"/>
              </p:ext>
            </p:extLst>
          </p:nvPr>
        </p:nvGraphicFramePr>
        <p:xfrm>
          <a:off x="2787584" y="5940711"/>
          <a:ext cx="188376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738234264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11615477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043642849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656623867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708531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839D8F8-0470-85ED-0105-D59121767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5790303"/>
              </p:ext>
            </p:extLst>
          </p:nvPr>
        </p:nvGraphicFramePr>
        <p:xfrm>
          <a:off x="4673670" y="5940711"/>
          <a:ext cx="94188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1794994316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702356832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35549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F7E95E8-21FE-6324-32E1-C8AFA025DE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317327"/>
              </p:ext>
            </p:extLst>
          </p:nvPr>
        </p:nvGraphicFramePr>
        <p:xfrm>
          <a:off x="8258101" y="5040341"/>
          <a:ext cx="188376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738234264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11615477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043642849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656623867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70853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ED52967-4777-DA53-290C-E0820A1016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5830"/>
              </p:ext>
            </p:extLst>
          </p:nvPr>
        </p:nvGraphicFramePr>
        <p:xfrm>
          <a:off x="10144187" y="5040341"/>
          <a:ext cx="94188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1794994316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702356832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0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0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35549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2690B98-E239-D7DC-6D6B-882CD4E27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717829"/>
              </p:ext>
            </p:extLst>
          </p:nvPr>
        </p:nvGraphicFramePr>
        <p:xfrm>
          <a:off x="8258101" y="5940711"/>
          <a:ext cx="188376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738234264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2011615477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043642849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656623867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708531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B758C367-9A19-C6D3-0CB8-542EA44C3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291525"/>
              </p:ext>
            </p:extLst>
          </p:nvPr>
        </p:nvGraphicFramePr>
        <p:xfrm>
          <a:off x="10144187" y="5940711"/>
          <a:ext cx="941880" cy="47094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70940">
                  <a:extLst>
                    <a:ext uri="{9D8B030D-6E8A-4147-A177-3AD203B41FA5}">
                      <a16:colId xmlns:a16="http://schemas.microsoft.com/office/drawing/2014/main" val="1794994316"/>
                    </a:ext>
                  </a:extLst>
                </a:gridCol>
                <a:gridCol w="470940">
                  <a:extLst>
                    <a:ext uri="{9D8B030D-6E8A-4147-A177-3AD203B41FA5}">
                      <a16:colId xmlns:a16="http://schemas.microsoft.com/office/drawing/2014/main" val="1702356832"/>
                    </a:ext>
                  </a:extLst>
                </a:gridCol>
              </a:tblGrid>
              <a:tr h="470940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05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L="117735" marR="117735" marT="58868" marB="58868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0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935549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7F9EECFC-930F-D23E-1852-94DF5A12168F}"/>
              </a:ext>
            </a:extLst>
          </p:cNvPr>
          <p:cNvSpPr txBox="1"/>
          <p:nvPr/>
        </p:nvSpPr>
        <p:spPr>
          <a:xfrm>
            <a:off x="833571" y="3130603"/>
            <a:ext cx="311133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Block Count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Block Lengths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Displacements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2FAEBEF-BA3C-C75C-4A6F-59097E292FE6}"/>
              </a:ext>
            </a:extLst>
          </p:cNvPr>
          <p:cNvCxnSpPr>
            <a:cxnSpLocks/>
          </p:cNvCxnSpPr>
          <p:nvPr/>
        </p:nvCxnSpPr>
        <p:spPr>
          <a:xfrm>
            <a:off x="6563676" y="3443592"/>
            <a:ext cx="2016971" cy="0"/>
          </a:xfrm>
          <a:prstGeom prst="line">
            <a:avLst/>
          </a:prstGeom>
          <a:ln w="76200">
            <a:solidFill>
              <a:srgbClr val="09FA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916B386-7A71-6FB6-480E-2C2A5A7BFC32}"/>
              </a:ext>
            </a:extLst>
          </p:cNvPr>
          <p:cNvCxnSpPr>
            <a:cxnSpLocks/>
          </p:cNvCxnSpPr>
          <p:nvPr/>
        </p:nvCxnSpPr>
        <p:spPr>
          <a:xfrm>
            <a:off x="10123410" y="3443592"/>
            <a:ext cx="990230" cy="0"/>
          </a:xfrm>
          <a:prstGeom prst="line">
            <a:avLst/>
          </a:prstGeom>
          <a:ln w="762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09BD670F-723E-DCB0-433D-B7EA4BA8336A}"/>
              </a:ext>
            </a:extLst>
          </p:cNvPr>
          <p:cNvGrpSpPr/>
          <p:nvPr/>
        </p:nvGrpSpPr>
        <p:grpSpPr>
          <a:xfrm>
            <a:off x="6568992" y="3905260"/>
            <a:ext cx="1995707" cy="0"/>
            <a:chOff x="5755490" y="3477727"/>
            <a:chExt cx="1995707" cy="0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E05BC49-18A1-B9EC-075B-C7972E153126}"/>
                </a:ext>
              </a:extLst>
            </p:cNvPr>
            <p:cNvCxnSpPr>
              <a:cxnSpLocks/>
            </p:cNvCxnSpPr>
            <p:nvPr/>
          </p:nvCxnSpPr>
          <p:spPr>
            <a:xfrm>
              <a:off x="5755490" y="3477727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63A07BD-F445-DCB6-B692-33627BBB06C4}"/>
                </a:ext>
              </a:extLst>
            </p:cNvPr>
            <p:cNvCxnSpPr>
              <a:cxnSpLocks/>
            </p:cNvCxnSpPr>
            <p:nvPr/>
          </p:nvCxnSpPr>
          <p:spPr>
            <a:xfrm>
              <a:off x="6267646" y="3477727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C1D65A4-1BF1-3CF2-32D1-FD0B38ABFD0D}"/>
                </a:ext>
              </a:extLst>
            </p:cNvPr>
            <p:cNvCxnSpPr>
              <a:cxnSpLocks/>
            </p:cNvCxnSpPr>
            <p:nvPr/>
          </p:nvCxnSpPr>
          <p:spPr>
            <a:xfrm>
              <a:off x="6779802" y="3477727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CC0DCF11-95C5-E222-CB5A-6C63BB2B48DA}"/>
                </a:ext>
              </a:extLst>
            </p:cNvPr>
            <p:cNvCxnSpPr>
              <a:cxnSpLocks/>
            </p:cNvCxnSpPr>
            <p:nvPr/>
          </p:nvCxnSpPr>
          <p:spPr>
            <a:xfrm>
              <a:off x="7291957" y="3477727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011951CB-2B5C-AAA7-117C-08AA359644B7}"/>
              </a:ext>
            </a:extLst>
          </p:cNvPr>
          <p:cNvGrpSpPr/>
          <p:nvPr/>
        </p:nvGrpSpPr>
        <p:grpSpPr>
          <a:xfrm>
            <a:off x="10142245" y="3905260"/>
            <a:ext cx="971395" cy="0"/>
            <a:chOff x="9328743" y="3477727"/>
            <a:chExt cx="971395" cy="0"/>
          </a:xfrm>
        </p:grpSpPr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FB1A72F0-F3FB-2538-640A-720749B1F895}"/>
                </a:ext>
              </a:extLst>
            </p:cNvPr>
            <p:cNvCxnSpPr>
              <a:cxnSpLocks/>
            </p:cNvCxnSpPr>
            <p:nvPr/>
          </p:nvCxnSpPr>
          <p:spPr>
            <a:xfrm>
              <a:off x="9328743" y="3477727"/>
              <a:ext cx="459240" cy="0"/>
            </a:xfrm>
            <a:prstGeom prst="line">
              <a:avLst/>
            </a:prstGeom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63564DE-B55D-1D20-9225-862B1C31DA99}"/>
                </a:ext>
              </a:extLst>
            </p:cNvPr>
            <p:cNvCxnSpPr>
              <a:cxnSpLocks/>
            </p:cNvCxnSpPr>
            <p:nvPr/>
          </p:nvCxnSpPr>
          <p:spPr>
            <a:xfrm>
              <a:off x="9840898" y="3477727"/>
              <a:ext cx="459240" cy="0"/>
            </a:xfrm>
            <a:prstGeom prst="line">
              <a:avLst/>
            </a:prstGeom>
            <a:ln w="762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349692F-4E5E-B055-098E-C9E6EFECDB2B}"/>
              </a:ext>
            </a:extLst>
          </p:cNvPr>
          <p:cNvGrpSpPr/>
          <p:nvPr/>
        </p:nvGrpSpPr>
        <p:grpSpPr>
          <a:xfrm>
            <a:off x="4020723" y="4190513"/>
            <a:ext cx="2498981" cy="0"/>
            <a:chOff x="3207221" y="3762980"/>
            <a:chExt cx="2498981" cy="0"/>
          </a:xfrm>
        </p:grpSpPr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FE174B50-409D-32F4-A923-5516A276E386}"/>
                </a:ext>
              </a:extLst>
            </p:cNvPr>
            <p:cNvCxnSpPr>
              <a:cxnSpLocks/>
            </p:cNvCxnSpPr>
            <p:nvPr/>
          </p:nvCxnSpPr>
          <p:spPr>
            <a:xfrm>
              <a:off x="3207221" y="3762980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282F97C-2FC2-CACD-4216-6BE492F650A1}"/>
                </a:ext>
              </a:extLst>
            </p:cNvPr>
            <p:cNvCxnSpPr>
              <a:cxnSpLocks/>
            </p:cNvCxnSpPr>
            <p:nvPr/>
          </p:nvCxnSpPr>
          <p:spPr>
            <a:xfrm>
              <a:off x="3717156" y="3762980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511B794-E431-55C8-8CBD-E18F5E2BE55D}"/>
                </a:ext>
              </a:extLst>
            </p:cNvPr>
            <p:cNvCxnSpPr>
              <a:cxnSpLocks/>
            </p:cNvCxnSpPr>
            <p:nvPr/>
          </p:nvCxnSpPr>
          <p:spPr>
            <a:xfrm>
              <a:off x="4227091" y="3762980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625A88E6-C5F0-1D1F-7C67-A9ABDF980685}"/>
                </a:ext>
              </a:extLst>
            </p:cNvPr>
            <p:cNvCxnSpPr>
              <a:cxnSpLocks/>
            </p:cNvCxnSpPr>
            <p:nvPr/>
          </p:nvCxnSpPr>
          <p:spPr>
            <a:xfrm>
              <a:off x="4737026" y="3762980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967EE0CF-91D7-4935-223E-1C2D57B1D037}"/>
                </a:ext>
              </a:extLst>
            </p:cNvPr>
            <p:cNvCxnSpPr>
              <a:cxnSpLocks/>
            </p:cNvCxnSpPr>
            <p:nvPr/>
          </p:nvCxnSpPr>
          <p:spPr>
            <a:xfrm>
              <a:off x="5246962" y="3762980"/>
              <a:ext cx="459240" cy="0"/>
            </a:xfrm>
            <a:prstGeom prst="line">
              <a:avLst/>
            </a:prstGeom>
            <a:ln w="76200">
              <a:solidFill>
                <a:srgbClr val="09FA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C8C0F947-5DFC-C27A-299D-4709B33F9DAF}"/>
              </a:ext>
            </a:extLst>
          </p:cNvPr>
          <p:cNvGrpSpPr/>
          <p:nvPr/>
        </p:nvGrpSpPr>
        <p:grpSpPr>
          <a:xfrm>
            <a:off x="4018503" y="4317792"/>
            <a:ext cx="6069463" cy="0"/>
            <a:chOff x="3199746" y="3890259"/>
            <a:chExt cx="6069463" cy="0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61639FC3-888D-97AA-4AA0-F4A0A437C789}"/>
                </a:ext>
              </a:extLst>
            </p:cNvPr>
            <p:cNvGrpSpPr/>
            <p:nvPr/>
          </p:nvGrpSpPr>
          <p:grpSpPr>
            <a:xfrm>
              <a:off x="3199746" y="3890259"/>
              <a:ext cx="2498981" cy="0"/>
              <a:chOff x="3359621" y="2248016"/>
              <a:chExt cx="2498981" cy="0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8A817773-AC26-EBD1-9BE6-08B65F2611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62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3B11C2E0-94AC-D71F-5F56-A65C0E9240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955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D3C0B59F-3C30-C065-256A-8DF6785276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49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FA5B2303-03EF-F6D0-4960-A091346979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942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AD96BA4B-73D1-C57A-8018-AA5021D03D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9362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48B2AB75-BCEC-6590-6CBD-4AF255EC080B}"/>
                </a:ext>
              </a:extLst>
            </p:cNvPr>
            <p:cNvGrpSpPr/>
            <p:nvPr/>
          </p:nvGrpSpPr>
          <p:grpSpPr>
            <a:xfrm>
              <a:off x="8300033" y="3890259"/>
              <a:ext cx="969176" cy="0"/>
              <a:chOff x="8294778" y="3728780"/>
              <a:chExt cx="969176" cy="0"/>
            </a:xfrm>
          </p:grpSpPr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524FA57-F491-EA0E-1ED1-E3EA2BF79E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778" y="3728780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5212F08B-3A74-501B-6714-A23E43AD84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4714" y="3728780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E03C8991-FF4F-EEE3-3A63-A1510E503109}"/>
                </a:ext>
              </a:extLst>
            </p:cNvPr>
            <p:cNvGrpSpPr/>
            <p:nvPr/>
          </p:nvGrpSpPr>
          <p:grpSpPr>
            <a:xfrm>
              <a:off x="5749889" y="3890259"/>
              <a:ext cx="2498981" cy="0"/>
              <a:chOff x="3359621" y="2248016"/>
              <a:chExt cx="2498981" cy="0"/>
            </a:xfrm>
          </p:grpSpPr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654E890F-D6D9-9C96-8651-DFEA4254A2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62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263A95A7-E63B-0F81-C23B-2188FF1668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955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A08607AF-D413-A819-E2DB-ED2BE7C4B3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49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A96158B6-3AC0-6FF2-2E33-C6750ECA3F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942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6B7A1604-2B64-ACB2-743F-76DF4DFE11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9362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26006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  <p:bldP spid="31" grpId="0"/>
      <p:bldP spid="32" grpId="0"/>
      <p:bldP spid="20" grpId="0" animBg="1"/>
      <p:bldP spid="21" grpId="0" animBg="1"/>
      <p:bldP spid="22" grpId="0"/>
      <p:bldP spid="24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92B38-4254-B341-C983-89F83D26A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3386C50-299E-EA66-562B-F0A6339B8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761058"/>
              </p:ext>
            </p:extLst>
          </p:nvPr>
        </p:nvGraphicFramePr>
        <p:xfrm>
          <a:off x="168390" y="4501699"/>
          <a:ext cx="3775644" cy="62927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29274">
                  <a:extLst>
                    <a:ext uri="{9D8B030D-6E8A-4147-A177-3AD203B41FA5}">
                      <a16:colId xmlns:a16="http://schemas.microsoft.com/office/drawing/2014/main" val="1199624162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604696211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1360389773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1877561284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3489226562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1724398616"/>
                    </a:ext>
                  </a:extLst>
                </a:gridCol>
              </a:tblGrid>
              <a:tr h="629274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88272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774F080-889A-303E-4953-D332BA6124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539871"/>
              </p:ext>
            </p:extLst>
          </p:nvPr>
        </p:nvGraphicFramePr>
        <p:xfrm>
          <a:off x="8253895" y="4501699"/>
          <a:ext cx="3775644" cy="629274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29274">
                  <a:extLst>
                    <a:ext uri="{9D8B030D-6E8A-4147-A177-3AD203B41FA5}">
                      <a16:colId xmlns:a16="http://schemas.microsoft.com/office/drawing/2014/main" val="1199624162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604696211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1360389773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1877561284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3489226562"/>
                    </a:ext>
                  </a:extLst>
                </a:gridCol>
                <a:gridCol w="629274">
                  <a:extLst>
                    <a:ext uri="{9D8B030D-6E8A-4147-A177-3AD203B41FA5}">
                      <a16:colId xmlns:a16="http://schemas.microsoft.com/office/drawing/2014/main" val="1724398616"/>
                    </a:ext>
                  </a:extLst>
                </a:gridCol>
              </a:tblGrid>
              <a:tr h="629274"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/>
                        <a:t>f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i</a:t>
                      </a:r>
                    </a:p>
                  </a:txBody>
                  <a:tcPr marL="125855" marR="125855" marT="62927" marB="62927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8827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AAAEF61-285F-4632-2701-4A8C8743D084}"/>
              </a:ext>
            </a:extLst>
          </p:cNvPr>
          <p:cNvSpPr txBox="1"/>
          <p:nvPr/>
        </p:nvSpPr>
        <p:spPr>
          <a:xfrm>
            <a:off x="4387946" y="4585504"/>
            <a:ext cx="342203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… … … … … …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8381910A-44DD-91A4-5088-69D0757DB415}"/>
              </a:ext>
            </a:extLst>
          </p:cNvPr>
          <p:cNvSpPr/>
          <p:nvPr/>
        </p:nvSpPr>
        <p:spPr>
          <a:xfrm rot="5400000">
            <a:off x="5784474" y="889144"/>
            <a:ext cx="629274" cy="9568714"/>
          </a:xfrm>
          <a:prstGeom prst="rightBrace">
            <a:avLst>
              <a:gd name="adj1" fmla="val 79428"/>
              <a:gd name="adj2" fmla="val 49862"/>
            </a:avLst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28575">
                <a:solidFill>
                  <a:srgbClr val="FFC000"/>
                </a:solidFill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11E74B-83F0-E017-6E02-191B0C9C75E9}"/>
              </a:ext>
            </a:extLst>
          </p:cNvPr>
          <p:cNvSpPr txBox="1"/>
          <p:nvPr/>
        </p:nvSpPr>
        <p:spPr>
          <a:xfrm>
            <a:off x="3671407" y="6114221"/>
            <a:ext cx="48491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particles</a:t>
            </a:r>
            <a:r>
              <a:rPr lang="fr-FR" sz="36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[NELEM];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39E958-4CC1-1518-8DAC-DC214D06293A}"/>
              </a:ext>
            </a:extLst>
          </p:cNvPr>
          <p:cNvSpPr txBox="1"/>
          <p:nvPr/>
        </p:nvSpPr>
        <p:spPr>
          <a:xfrm>
            <a:off x="6589534" y="1616137"/>
            <a:ext cx="4958594" cy="2308324"/>
          </a:xfrm>
          <a:prstGeom prst="rect">
            <a:avLst/>
          </a:prstGeom>
          <a:solidFill>
            <a:srgbClr val="1F1F1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rgbClr val="569CD6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t</a:t>
            </a:r>
            <a:r>
              <a:rPr lang="fr-FR" sz="24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ypedef struct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chemeClr val="accent5">
                    <a:lumMod val="75000"/>
                  </a:schemeClr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float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x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y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z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velocity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</a:t>
            </a:r>
            <a:r>
              <a:rPr lang="fr-FR" sz="2400" b="0" dirty="0">
                <a:solidFill>
                  <a:srgbClr val="FFC00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type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} </a:t>
            </a:r>
            <a:r>
              <a:rPr lang="en-US" sz="2400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Particle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;</a:t>
            </a:r>
          </a:p>
          <a:p>
            <a:endParaRPr lang="fr-FR" sz="2400" b="0" dirty="0">
              <a:solidFill>
                <a:srgbClr val="CCCCCC"/>
              </a:solidFill>
              <a:effectLst/>
              <a:highlight>
                <a:srgbClr val="1F1F1F"/>
              </a:highlight>
              <a:latin typeface="Consolas" panose="020B0609020204030204" pitchFamily="49" charset="0"/>
            </a:endParaRPr>
          </a:p>
          <a:p>
            <a:r>
              <a:rPr lang="en-US" sz="2400" b="0" dirty="0">
                <a:solidFill>
                  <a:srgbClr val="4EC9B0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Particle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fr-FR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particles</a:t>
            </a:r>
            <a:r>
              <a:rPr lang="fr-FR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[NELEM];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CE8D3E-5916-2189-355E-68DC7D9CD465}"/>
              </a:ext>
            </a:extLst>
          </p:cNvPr>
          <p:cNvSpPr txBox="1"/>
          <p:nvPr/>
        </p:nvSpPr>
        <p:spPr>
          <a:xfrm>
            <a:off x="643873" y="1616137"/>
            <a:ext cx="5750363" cy="2308324"/>
          </a:xfrm>
          <a:prstGeom prst="rect">
            <a:avLst/>
          </a:prstGeom>
          <a:solidFill>
            <a:srgbClr val="1F1F1F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DCDCAA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MPI_Type_create_struct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 </a:t>
            </a:r>
            <a:r>
              <a:rPr lang="en-US" sz="24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count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     </a:t>
            </a:r>
            <a:r>
              <a:rPr lang="en-US" sz="24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*</a:t>
            </a:r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array_of_blocklens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>
                <a:solidFill>
                  <a:srgbClr val="569CD6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MPI_Aint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 *</a:t>
            </a:r>
            <a:r>
              <a:rPr lang="en-US" sz="2400" dirty="0">
                <a:solidFill>
                  <a:srgbClr val="9CDCFE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array_of_displacements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MPI_Datatype *</a:t>
            </a:r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array_of</a:t>
            </a:r>
            <a:r>
              <a:rPr lang="en-US" sz="2400" dirty="0">
                <a:solidFill>
                  <a:srgbClr val="9CDCFE"/>
                </a:solidFill>
                <a:highlight>
                  <a:srgbClr val="1F1F1F"/>
                </a:highlight>
                <a:latin typeface="Consolas" panose="020B0609020204030204" pitchFamily="49" charset="0"/>
              </a:rPr>
              <a:t>_</a:t>
            </a:r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types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,</a:t>
            </a:r>
          </a:p>
          <a:p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MPI_Datatype </a:t>
            </a:r>
            <a:r>
              <a:rPr lang="en-US" sz="2400" b="0" dirty="0">
                <a:solidFill>
                  <a:srgbClr val="D4D4D4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*</a:t>
            </a:r>
            <a:r>
              <a:rPr lang="en-US" sz="2400" b="0" dirty="0">
                <a:solidFill>
                  <a:srgbClr val="9CDCFE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newtype</a:t>
            </a:r>
            <a:r>
              <a:rPr lang="en-US" sz="2400" b="0" dirty="0">
                <a:solidFill>
                  <a:srgbClr val="CCCCCC"/>
                </a:solidFill>
                <a:effectLst/>
                <a:highlight>
                  <a:srgbClr val="1F1F1F"/>
                </a:highlight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10" name="Title 18">
            <a:extLst>
              <a:ext uri="{FF2B5EF4-FFF2-40B4-BE49-F238E27FC236}">
                <a16:creationId xmlns:a16="http://schemas.microsoft.com/office/drawing/2014/main" id="{3B9E9417-632B-1B62-8A32-43D88A069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5" y="-1"/>
            <a:ext cx="10515601" cy="965193"/>
          </a:xfrm>
        </p:spPr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Exercise.1				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Derived Data Types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E7BB77E-59D3-006C-4983-1F18FD4DDC7E}"/>
              </a:ext>
            </a:extLst>
          </p:cNvPr>
          <p:cNvSpPr txBox="1">
            <a:spLocks/>
          </p:cNvSpPr>
          <p:nvPr/>
        </p:nvSpPr>
        <p:spPr>
          <a:xfrm>
            <a:off x="3259095" y="402685"/>
            <a:ext cx="3242645" cy="630922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ddt.4.struct</a:t>
            </a:r>
          </a:p>
        </p:txBody>
      </p:sp>
    </p:spTree>
    <p:extLst>
      <p:ext uri="{BB962C8B-B14F-4D97-AF65-F5344CB8AC3E}">
        <p14:creationId xmlns:p14="http://schemas.microsoft.com/office/powerpoint/2010/main" val="4049334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20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Content Placeholder 3">
            <a:extLst>
              <a:ext uri="{FF2B5EF4-FFF2-40B4-BE49-F238E27FC236}">
                <a16:creationId xmlns:a16="http://schemas.microsoft.com/office/drawing/2014/main" id="{CCB3B7D6-4779-A37F-E2A2-55D1D671BB89}"/>
              </a:ext>
            </a:extLst>
          </p:cNvPr>
          <p:cNvSpPr txBox="1">
            <a:spLocks/>
          </p:cNvSpPr>
          <p:nvPr/>
        </p:nvSpPr>
        <p:spPr>
          <a:xfrm>
            <a:off x="733565" y="1281162"/>
            <a:ext cx="11006490" cy="557683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   </a:t>
            </a:r>
            <a:r>
              <a:rPr lang="en-US" sz="2800" u="sng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Four Programs</a:t>
            </a:r>
          </a:p>
          <a:p>
            <a:pPr marL="626357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ddt.1.contiguous</a:t>
            </a:r>
          </a:p>
          <a:p>
            <a:pPr marL="626357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lt"/>
              </a:rPr>
              <a:t>ddt.2.vector</a:t>
            </a:r>
          </a:p>
          <a:p>
            <a:pPr marL="626357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rPr>
              <a:t>ddt.3.indexed</a:t>
            </a:r>
          </a:p>
          <a:p>
            <a:pPr marL="626357" lvl="2" indent="-342900"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j-lt"/>
              </a:rPr>
              <a:t>ddt.4.struct</a:t>
            </a:r>
          </a:p>
          <a:p>
            <a:pPr marL="283457" lvl="2" indent="0">
              <a:buNone/>
            </a:pPr>
            <a:br>
              <a:rPr lang="en-US" sz="1400" dirty="0">
                <a:solidFill>
                  <a:srgbClr val="09FA80"/>
                </a:solidFill>
                <a:latin typeface="+mj-lt"/>
              </a:rPr>
            </a:br>
            <a:r>
              <a:rPr lang="en-US" sz="2400" dirty="0">
                <a:solidFill>
                  <a:srgbClr val="09FA80"/>
                </a:solidFill>
                <a:latin typeface="+mj-lt"/>
              </a:rPr>
              <a:t>Step 1: cp -r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/jet/home/akirby/IHPCSS2024-mpi/exercises ~/. 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2: cd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Exercise.1-DerivedDataTypes/{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3: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Complete the “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TODO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” tasks in each of the programs.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SOLUTIONS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:  </a:t>
            </a:r>
            <a:r>
              <a:rPr lang="en-US" sz="2400" dirty="0">
                <a:solidFill>
                  <a:srgbClr val="09FA80"/>
                </a:solidFill>
                <a:latin typeface="+mj-lt"/>
              </a:rPr>
              <a:t>cd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Exercise.1-DerivedDataTypes/</a:t>
            </a:r>
            <a:r>
              <a:rPr lang="en-US" sz="2400" dirty="0">
                <a:solidFill>
                  <a:srgbClr val="09FA80"/>
                </a:solidFill>
                <a:latin typeface="Aptos Mono" panose="020B0009020202020204" pitchFamily="49" charset="0"/>
              </a:rPr>
              <a:t>.soln</a:t>
            </a:r>
            <a:endParaRPr lang="en-US" sz="2400" dirty="0">
              <a:solidFill>
                <a:srgbClr val="09FA80"/>
              </a:solidFill>
              <a:latin typeface="+mj-lt"/>
            </a:endParaRP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Aptos Mono" panose="020F0502020204030204" pitchFamily="49" charset="0"/>
            </a:endParaRPr>
          </a:p>
        </p:txBody>
      </p:sp>
      <p:sp>
        <p:nvSpPr>
          <p:cNvPr id="64" name="Rectangle: Rounded Corners 63">
            <a:extLst>
              <a:ext uri="{FF2B5EF4-FFF2-40B4-BE49-F238E27FC236}">
                <a16:creationId xmlns:a16="http://schemas.microsoft.com/office/drawing/2014/main" id="{C140B2F0-2858-3325-2312-F04E63A4125D}"/>
              </a:ext>
            </a:extLst>
          </p:cNvPr>
          <p:cNvSpPr/>
          <p:nvPr/>
        </p:nvSpPr>
        <p:spPr>
          <a:xfrm>
            <a:off x="9373953" y="3546363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115BF502-0702-B677-1467-A723E25984A6}"/>
              </a:ext>
            </a:extLst>
          </p:cNvPr>
          <p:cNvSpPr/>
          <p:nvPr/>
        </p:nvSpPr>
        <p:spPr>
          <a:xfrm>
            <a:off x="10607003" y="3546361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8E71EA2C-1394-FF16-C329-300CA4FA71D2}"/>
              </a:ext>
            </a:extLst>
          </p:cNvPr>
          <p:cNvSpPr/>
          <p:nvPr/>
        </p:nvSpPr>
        <p:spPr>
          <a:xfrm>
            <a:off x="8140902" y="3546362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05CF629F-395B-EC14-9CC5-D654B0D87F5A}"/>
              </a:ext>
            </a:extLst>
          </p:cNvPr>
          <p:cNvSpPr/>
          <p:nvPr/>
        </p:nvSpPr>
        <p:spPr>
          <a:xfrm>
            <a:off x="6907851" y="3546363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8A65218A-5278-C7A1-9EA3-F58A304700AA}"/>
              </a:ext>
            </a:extLst>
          </p:cNvPr>
          <p:cNvSpPr/>
          <p:nvPr/>
        </p:nvSpPr>
        <p:spPr>
          <a:xfrm>
            <a:off x="5674800" y="3546363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2">
              <a:lumMod val="40000"/>
              <a:lumOff val="60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Exercise.1				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Derived Data Types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C11B7433-2C99-4EDC-8DE9-0BC5D3C64ACD}"/>
              </a:ext>
            </a:extLst>
          </p:cNvPr>
          <p:cNvSpPr/>
          <p:nvPr/>
        </p:nvSpPr>
        <p:spPr>
          <a:xfrm>
            <a:off x="7922930" y="1387743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2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Min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4F6A98A-1F8B-268A-AEBC-0EE6CA3EB415}"/>
              </a:ext>
            </a:extLst>
          </p:cNvPr>
          <p:cNvSpPr/>
          <p:nvPr/>
        </p:nvSpPr>
        <p:spPr>
          <a:xfrm>
            <a:off x="9155980" y="1387741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1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Min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F240CBA-02FD-4DC9-AB71-5890AA39CFB7}"/>
              </a:ext>
            </a:extLst>
          </p:cNvPr>
          <p:cNvSpPr/>
          <p:nvPr/>
        </p:nvSpPr>
        <p:spPr>
          <a:xfrm>
            <a:off x="6689879" y="1387742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3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Min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E943F2C-0D4C-202F-2A17-AD0BF170A726}"/>
              </a:ext>
            </a:extLst>
          </p:cNvPr>
          <p:cNvSpPr/>
          <p:nvPr/>
        </p:nvSpPr>
        <p:spPr>
          <a:xfrm>
            <a:off x="5456828" y="1387743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4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Min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2F70F5F-D393-0C87-4C50-5EA074AC6929}"/>
              </a:ext>
            </a:extLst>
          </p:cNvPr>
          <p:cNvSpPr/>
          <p:nvPr/>
        </p:nvSpPr>
        <p:spPr>
          <a:xfrm>
            <a:off x="4223777" y="1387743"/>
            <a:ext cx="965193" cy="965193"/>
          </a:xfrm>
          <a:prstGeom prst="roundRect">
            <a:avLst>
              <a:gd name="adj" fmla="val 50000"/>
            </a:avLst>
          </a:prstGeom>
          <a:solidFill>
            <a:schemeClr val="accent6">
              <a:lumMod val="75000"/>
            </a:schemeClr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5</a:t>
            </a:r>
          </a:p>
          <a:p>
            <a:pPr algn="ctr"/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Min</a:t>
            </a:r>
          </a:p>
        </p:txBody>
      </p:sp>
      <p:pic>
        <p:nvPicPr>
          <p:cNvPr id="46" name="Graphic 45" descr="Hourglass 30% outline">
            <a:extLst>
              <a:ext uri="{FF2B5EF4-FFF2-40B4-BE49-F238E27FC236}">
                <a16:creationId xmlns:a16="http://schemas.microsoft.com/office/drawing/2014/main" id="{9656C0A1-C803-EDAD-0424-259CD9A7CB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37637" y="1716339"/>
            <a:ext cx="406730" cy="406730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B07509C-233D-93E6-243A-3F94299DB2BF}"/>
              </a:ext>
            </a:extLst>
          </p:cNvPr>
          <p:cNvSpPr/>
          <p:nvPr/>
        </p:nvSpPr>
        <p:spPr>
          <a:xfrm>
            <a:off x="8406604" y="2107283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83A7FD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C9254B81-78E5-7529-5881-1F40DDC11DE6}"/>
              </a:ext>
            </a:extLst>
          </p:cNvPr>
          <p:cNvSpPr/>
          <p:nvPr/>
        </p:nvSpPr>
        <p:spPr>
          <a:xfrm>
            <a:off x="9639654" y="2107281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83A7FD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3C8C864-77CE-536D-D47A-626AEE0BFD59}"/>
              </a:ext>
            </a:extLst>
          </p:cNvPr>
          <p:cNvSpPr/>
          <p:nvPr/>
        </p:nvSpPr>
        <p:spPr>
          <a:xfrm>
            <a:off x="7173553" y="2107282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83A7FD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4252876F-8D3F-EE35-8F06-BAE6A52E1D5C}"/>
              </a:ext>
            </a:extLst>
          </p:cNvPr>
          <p:cNvSpPr/>
          <p:nvPr/>
        </p:nvSpPr>
        <p:spPr>
          <a:xfrm>
            <a:off x="5940502" y="2107283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83A7FD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3B386E7-3806-371D-D334-296EBD5CE6AB}"/>
              </a:ext>
            </a:extLst>
          </p:cNvPr>
          <p:cNvSpPr/>
          <p:nvPr/>
        </p:nvSpPr>
        <p:spPr>
          <a:xfrm>
            <a:off x="4707451" y="2107283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83A7FD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pic>
        <p:nvPicPr>
          <p:cNvPr id="53" name="Graphic 52" descr="Hourglass 30% outline">
            <a:extLst>
              <a:ext uri="{FF2B5EF4-FFF2-40B4-BE49-F238E27FC236}">
                <a16:creationId xmlns:a16="http://schemas.microsoft.com/office/drawing/2014/main" id="{75A92A4B-2C6D-1D3D-FD0C-47BFDBD15E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18439" y="2388484"/>
            <a:ext cx="406730" cy="406730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3C732FC-8823-CA81-DEF7-E066F8C6F3E9}"/>
              </a:ext>
            </a:extLst>
          </p:cNvPr>
          <p:cNvSpPr/>
          <p:nvPr/>
        </p:nvSpPr>
        <p:spPr>
          <a:xfrm>
            <a:off x="8890278" y="2826823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ABF3FB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2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CF82E5E-3B9D-BC4C-BEAA-7F94E63B076B}"/>
              </a:ext>
            </a:extLst>
          </p:cNvPr>
          <p:cNvSpPr/>
          <p:nvPr/>
        </p:nvSpPr>
        <p:spPr>
          <a:xfrm>
            <a:off x="10123328" y="2826821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ABF3FB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1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35A1195-DC30-6F54-48A5-4C71BFA56C46}"/>
              </a:ext>
            </a:extLst>
          </p:cNvPr>
          <p:cNvSpPr/>
          <p:nvPr/>
        </p:nvSpPr>
        <p:spPr>
          <a:xfrm>
            <a:off x="7657227" y="2826822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ABF3FB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3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AD188AE-739B-F565-D762-0F0CF2BD0A2C}"/>
              </a:ext>
            </a:extLst>
          </p:cNvPr>
          <p:cNvSpPr/>
          <p:nvPr/>
        </p:nvSpPr>
        <p:spPr>
          <a:xfrm>
            <a:off x="6424176" y="2826823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ABF3FB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4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9A8A6DE-0E83-A248-4DDF-B82F6763CD76}"/>
              </a:ext>
            </a:extLst>
          </p:cNvPr>
          <p:cNvSpPr/>
          <p:nvPr/>
        </p:nvSpPr>
        <p:spPr>
          <a:xfrm>
            <a:off x="5191125" y="2826823"/>
            <a:ext cx="965193" cy="965193"/>
          </a:xfrm>
          <a:prstGeom prst="roundRect">
            <a:avLst>
              <a:gd name="adj" fmla="val 50000"/>
            </a:avLst>
          </a:prstGeom>
          <a:solidFill>
            <a:srgbClr val="ABF3FB"/>
          </a:solidFill>
          <a:effectLst>
            <a:glow rad="139700">
              <a:schemeClr val="accent4">
                <a:satMod val="175000"/>
                <a:alpha val="40000"/>
              </a:schemeClr>
            </a:glow>
          </a:effectLst>
          <a:scene3d>
            <a:camera prst="isometricTopUp"/>
            <a:lightRig rig="threePt" dir="t"/>
          </a:scene3d>
          <a:sp3d>
            <a:bevelT w="114300" prst="hardEdg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5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+mj-lt"/>
              </a:rPr>
              <a:t>Min</a:t>
            </a:r>
          </a:p>
        </p:txBody>
      </p:sp>
      <p:pic>
        <p:nvPicPr>
          <p:cNvPr id="79" name="Graphic 78" descr="Hourglass 30% outline">
            <a:extLst>
              <a:ext uri="{FF2B5EF4-FFF2-40B4-BE49-F238E27FC236}">
                <a16:creationId xmlns:a16="http://schemas.microsoft.com/office/drawing/2014/main" id="{E630F158-A3A5-B927-8BB5-C80E48A22F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49166" y="3102969"/>
            <a:ext cx="406730" cy="406730"/>
          </a:xfrm>
          <a:prstGeom prst="rect">
            <a:avLst/>
          </a:prstGeom>
        </p:spPr>
      </p:pic>
      <p:pic>
        <p:nvPicPr>
          <p:cNvPr id="80" name="Graphic 79" descr="Hourglass 30% outline">
            <a:extLst>
              <a:ext uri="{FF2B5EF4-FFF2-40B4-BE49-F238E27FC236}">
                <a16:creationId xmlns:a16="http://schemas.microsoft.com/office/drawing/2014/main" id="{7254887A-F98D-E6C2-B739-45AFEA2D3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0806" y="3825592"/>
            <a:ext cx="406730" cy="40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316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" dur="59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9000"/>
                            </p:stCondLst>
                            <p:childTnLst>
                              <p:par>
                                <p:cTn id="12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3" dur="59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8000"/>
                            </p:stCondLst>
                            <p:childTnLst>
                              <p:par>
                                <p:cTn id="16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7" dur="59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7000"/>
                            </p:stCondLst>
                            <p:childTnLst>
                              <p:par>
                                <p:cTn id="20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1" dur="59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36000"/>
                            </p:stCondLst>
                            <p:childTnLst>
                              <p:par>
                                <p:cTn id="24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25" dur="59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3" dur="59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9000"/>
                            </p:stCondLst>
                            <p:childTnLst>
                              <p:par>
                                <p:cTn id="36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37" dur="59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8000"/>
                            </p:stCondLst>
                            <p:childTnLst>
                              <p:par>
                                <p:cTn id="40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1" dur="59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77000"/>
                            </p:stCondLst>
                            <p:childTnLst>
                              <p:par>
                                <p:cTn id="44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5" dur="59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36000"/>
                            </p:stCondLst>
                            <p:childTnLst>
                              <p:par>
                                <p:cTn id="48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49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57" dur="59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9000"/>
                            </p:stCondLst>
                            <p:childTnLst>
                              <p:par>
                                <p:cTn id="60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1" dur="59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18000"/>
                            </p:stCondLst>
                            <p:childTnLst>
                              <p:par>
                                <p:cTn id="64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5" dur="59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77000"/>
                            </p:stCondLst>
                            <p:childTnLst>
                              <p:par>
                                <p:cTn id="68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9" dur="59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36000"/>
                            </p:stCondLst>
                            <p:childTnLst>
                              <p:par>
                                <p:cTn id="72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73" dur="59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1" dur="59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9000"/>
                            </p:stCondLst>
                            <p:childTnLst>
                              <p:par>
                                <p:cTn id="84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5" dur="59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18000"/>
                            </p:stCondLst>
                            <p:childTnLst>
                              <p:par>
                                <p:cTn id="88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89" dur="59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77000"/>
                            </p:stCondLst>
                            <p:childTnLst>
                              <p:par>
                                <p:cTn id="92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3" dur="59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36000"/>
                            </p:stCondLst>
                            <p:childTnLst>
                              <p:par>
                                <p:cTn id="96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97" dur="59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5" grpId="0" animBg="1"/>
      <p:bldP spid="66" grpId="0" animBg="1"/>
      <p:bldP spid="67" grpId="0" animBg="1"/>
      <p:bldP spid="6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9" grpId="0" animBg="1"/>
      <p:bldP spid="60" grpId="0" animBg="1"/>
      <p:bldP spid="61" grpId="0" animBg="1"/>
      <p:bldP spid="62" grpId="0" animBg="1"/>
      <p:bldP spid="6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Exercise.2	   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Cartesian Virtual Topologies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10</a:t>
            </a:fld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DDE9976-390C-A455-157E-D4D2F2438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184976"/>
              </p:ext>
            </p:extLst>
          </p:nvPr>
        </p:nvGraphicFramePr>
        <p:xfrm>
          <a:off x="8603421" y="4534034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739AE1B-F0F2-44A3-69BC-29408CB08D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59917"/>
              </p:ext>
            </p:extLst>
          </p:nvPr>
        </p:nvGraphicFramePr>
        <p:xfrm>
          <a:off x="6096000" y="4534034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D03DFAF-2311-5E44-E6C6-14AD1F1BE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556916"/>
              </p:ext>
            </p:extLst>
          </p:nvPr>
        </p:nvGraphicFramePr>
        <p:xfrm>
          <a:off x="8603421" y="2448426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7B2276B-7955-45D0-D730-05D7ECF99A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675868"/>
              </p:ext>
            </p:extLst>
          </p:nvPr>
        </p:nvGraphicFramePr>
        <p:xfrm>
          <a:off x="6096000" y="2448426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E8F1B7F-052B-8E52-0D5E-D6199113D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876123"/>
              </p:ext>
            </p:extLst>
          </p:nvPr>
        </p:nvGraphicFramePr>
        <p:xfrm>
          <a:off x="7348106" y="3491230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22F818-3213-DC08-6265-4DFCBC2DA21B}"/>
              </a:ext>
            </a:extLst>
          </p:cNvPr>
          <p:cNvCxnSpPr>
            <a:cxnSpLocks/>
          </p:cNvCxnSpPr>
          <p:nvPr/>
        </p:nvCxnSpPr>
        <p:spPr>
          <a:xfrm>
            <a:off x="7598445" y="2448426"/>
            <a:ext cx="0" cy="4171216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6B7271-BC87-AA45-4293-E8030E61C67E}"/>
              </a:ext>
            </a:extLst>
          </p:cNvPr>
          <p:cNvCxnSpPr>
            <a:cxnSpLocks/>
          </p:cNvCxnSpPr>
          <p:nvPr/>
        </p:nvCxnSpPr>
        <p:spPr>
          <a:xfrm>
            <a:off x="9608516" y="2448426"/>
            <a:ext cx="0" cy="4171216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65119B-4930-CB77-0A3F-41CF95DCB757}"/>
              </a:ext>
            </a:extLst>
          </p:cNvPr>
          <p:cNvCxnSpPr>
            <a:cxnSpLocks/>
          </p:cNvCxnSpPr>
          <p:nvPr/>
        </p:nvCxnSpPr>
        <p:spPr>
          <a:xfrm>
            <a:off x="6096000" y="3750720"/>
            <a:ext cx="5018051" cy="0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FBAE7A9-12BE-647E-8580-248F6D94CA21}"/>
              </a:ext>
            </a:extLst>
          </p:cNvPr>
          <p:cNvCxnSpPr>
            <a:cxnSpLocks/>
          </p:cNvCxnSpPr>
          <p:nvPr/>
        </p:nvCxnSpPr>
        <p:spPr>
          <a:xfrm>
            <a:off x="6096000" y="5311172"/>
            <a:ext cx="5018051" cy="0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ontent Placeholder 3">
            <a:extLst>
              <a:ext uri="{FF2B5EF4-FFF2-40B4-BE49-F238E27FC236}">
                <a16:creationId xmlns:a16="http://schemas.microsoft.com/office/drawing/2014/main" id="{B862F220-611E-18D9-1F84-6AD2B089FDC2}"/>
              </a:ext>
            </a:extLst>
          </p:cNvPr>
          <p:cNvSpPr txBox="1">
            <a:spLocks/>
          </p:cNvSpPr>
          <p:nvPr/>
        </p:nvSpPr>
        <p:spPr>
          <a:xfrm>
            <a:off x="522520" y="5849086"/>
            <a:ext cx="5426512" cy="677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C000"/>
                </a:solidFill>
                <a:latin typeface="+mj-lt"/>
              </a:rPr>
              <a:t>4 Neighbors</a:t>
            </a: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A3EEAB5D-6389-5B04-485E-F211BF7F80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07003"/>
              </p:ext>
            </p:extLst>
          </p:nvPr>
        </p:nvGraphicFramePr>
        <p:xfrm>
          <a:off x="2089298" y="3326768"/>
          <a:ext cx="2575230" cy="259765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29205">
                  <a:extLst>
                    <a:ext uri="{9D8B030D-6E8A-4147-A177-3AD203B41FA5}">
                      <a16:colId xmlns:a16="http://schemas.microsoft.com/office/drawing/2014/main" val="3239292189"/>
                    </a:ext>
                  </a:extLst>
                </a:gridCol>
                <a:gridCol w="429205">
                  <a:extLst>
                    <a:ext uri="{9D8B030D-6E8A-4147-A177-3AD203B41FA5}">
                      <a16:colId xmlns:a16="http://schemas.microsoft.com/office/drawing/2014/main" val="2056207601"/>
                    </a:ext>
                  </a:extLst>
                </a:gridCol>
                <a:gridCol w="429205">
                  <a:extLst>
                    <a:ext uri="{9D8B030D-6E8A-4147-A177-3AD203B41FA5}">
                      <a16:colId xmlns:a16="http://schemas.microsoft.com/office/drawing/2014/main" val="1355250608"/>
                    </a:ext>
                  </a:extLst>
                </a:gridCol>
                <a:gridCol w="429205">
                  <a:extLst>
                    <a:ext uri="{9D8B030D-6E8A-4147-A177-3AD203B41FA5}">
                      <a16:colId xmlns:a16="http://schemas.microsoft.com/office/drawing/2014/main" val="757260952"/>
                    </a:ext>
                  </a:extLst>
                </a:gridCol>
                <a:gridCol w="429205">
                  <a:extLst>
                    <a:ext uri="{9D8B030D-6E8A-4147-A177-3AD203B41FA5}">
                      <a16:colId xmlns:a16="http://schemas.microsoft.com/office/drawing/2014/main" val="3864858205"/>
                    </a:ext>
                  </a:extLst>
                </a:gridCol>
                <a:gridCol w="429205">
                  <a:extLst>
                    <a:ext uri="{9D8B030D-6E8A-4147-A177-3AD203B41FA5}">
                      <a16:colId xmlns:a16="http://schemas.microsoft.com/office/drawing/2014/main" val="551122788"/>
                    </a:ext>
                  </a:extLst>
                </a:gridCol>
              </a:tblGrid>
              <a:tr h="4329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035002"/>
                  </a:ext>
                </a:extLst>
              </a:tr>
              <a:tr h="4329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312387"/>
                  </a:ext>
                </a:extLst>
              </a:tr>
              <a:tr h="4329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728329"/>
                  </a:ext>
                </a:extLst>
              </a:tr>
              <a:tr h="4329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28904"/>
                  </a:ext>
                </a:extLst>
              </a:tr>
              <a:tr h="4329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6132"/>
                  </a:ext>
                </a:extLst>
              </a:tr>
              <a:tr h="43294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661961"/>
                  </a:ext>
                </a:extLst>
              </a:tr>
            </a:tbl>
          </a:graphicData>
        </a:graphic>
      </p:graphicFrame>
      <p:sp>
        <p:nvSpPr>
          <p:cNvPr id="68" name="Rectangle 67">
            <a:extLst>
              <a:ext uri="{FF2B5EF4-FFF2-40B4-BE49-F238E27FC236}">
                <a16:creationId xmlns:a16="http://schemas.microsoft.com/office/drawing/2014/main" id="{B8204144-0A48-8AF7-D87E-B785AB406DF1}"/>
              </a:ext>
            </a:extLst>
          </p:cNvPr>
          <p:cNvSpPr/>
          <p:nvPr/>
        </p:nvSpPr>
        <p:spPr>
          <a:xfrm>
            <a:off x="2089296" y="3321794"/>
            <a:ext cx="2575232" cy="259766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48B56CC1-4495-6E27-BF52-B1C82442170B}"/>
              </a:ext>
            </a:extLst>
          </p:cNvPr>
          <p:cNvGrpSpPr/>
          <p:nvPr/>
        </p:nvGrpSpPr>
        <p:grpSpPr>
          <a:xfrm>
            <a:off x="2962401" y="3835481"/>
            <a:ext cx="1259619" cy="1158240"/>
            <a:chOff x="7973833" y="3324969"/>
            <a:chExt cx="1259619" cy="1158240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137DF793-CD8E-E3E2-3A0D-844D9ABCE7E7}"/>
                </a:ext>
              </a:extLst>
            </p:cNvPr>
            <p:cNvGrpSpPr/>
            <p:nvPr/>
          </p:nvGrpSpPr>
          <p:grpSpPr>
            <a:xfrm>
              <a:off x="7973833" y="3904089"/>
              <a:ext cx="1259619" cy="0"/>
              <a:chOff x="7973833" y="3896139"/>
              <a:chExt cx="1259619" cy="0"/>
            </a:xfrm>
          </p:grpSpPr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86DED2FA-D1BF-3478-3100-B3C103750D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0532" y="3896139"/>
                <a:ext cx="50292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Arrow Connector 74">
                <a:extLst>
                  <a:ext uri="{FF2B5EF4-FFF2-40B4-BE49-F238E27FC236}">
                    <a16:creationId xmlns:a16="http://schemas.microsoft.com/office/drawing/2014/main" id="{303E94AC-971D-7AF7-6E35-22785D8B96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73833" y="3896139"/>
                <a:ext cx="502920" cy="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77B749D-152A-E838-783C-E3F2D12A9325}"/>
                </a:ext>
              </a:extLst>
            </p:cNvPr>
            <p:cNvGrpSpPr/>
            <p:nvPr/>
          </p:nvGrpSpPr>
          <p:grpSpPr>
            <a:xfrm>
              <a:off x="8603642" y="3324969"/>
              <a:ext cx="0" cy="1158240"/>
              <a:chOff x="8604637" y="3324969"/>
              <a:chExt cx="0" cy="1158240"/>
            </a:xfrm>
          </p:grpSpPr>
          <p:cxnSp>
            <p:nvCxnSpPr>
              <p:cNvPr id="72" name="Straight Arrow Connector 71">
                <a:extLst>
                  <a:ext uri="{FF2B5EF4-FFF2-40B4-BE49-F238E27FC236}">
                    <a16:creationId xmlns:a16="http://schemas.microsoft.com/office/drawing/2014/main" id="{B0226824-7593-D14E-19B9-AF3BA463DA1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604637" y="3324969"/>
                <a:ext cx="0" cy="50292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099ED3C5-D56F-5275-ADE5-1C1F81B55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04637" y="3980289"/>
                <a:ext cx="0" cy="502920"/>
              </a:xfrm>
              <a:prstGeom prst="straightConnector1">
                <a:avLst/>
              </a:prstGeom>
              <a:ln w="635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5D4F7C-71FF-83C9-3115-20039884F7B6}"/>
                  </a:ext>
                </a:extLst>
              </p:cNvPr>
              <p:cNvSpPr txBox="1"/>
              <p:nvPr/>
            </p:nvSpPr>
            <p:spPr>
              <a:xfrm>
                <a:off x="1566659" y="2272296"/>
                <a:ext cx="3634393" cy="1015663"/>
              </a:xfrm>
              <a:prstGeom prst="rect">
                <a:avLst/>
              </a:prstGeom>
              <a:noFill/>
              <a:ln w="38100" cap="rnd">
                <a:noFill/>
              </a:ln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4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400" i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4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5D4F7C-71FF-83C9-3115-20039884F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659" y="2272296"/>
                <a:ext cx="3634393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 cap="rnd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Content Placeholder 3">
            <a:extLst>
              <a:ext uri="{FF2B5EF4-FFF2-40B4-BE49-F238E27FC236}">
                <a16:creationId xmlns:a16="http://schemas.microsoft.com/office/drawing/2014/main" id="{0FAB5C9C-8A67-9D1B-8B68-FEA1BC263C7C}"/>
              </a:ext>
            </a:extLst>
          </p:cNvPr>
          <p:cNvSpPr txBox="1">
            <a:spLocks/>
          </p:cNvSpPr>
          <p:nvPr/>
        </p:nvSpPr>
        <p:spPr>
          <a:xfrm>
            <a:off x="522520" y="6289625"/>
            <a:ext cx="5426512" cy="4818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Typical Communication Pattern</a:t>
            </a:r>
            <a:endParaRPr lang="en-US" sz="2400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0559F-6499-6464-C3EC-AF4F2DD2479C}"/>
              </a:ext>
            </a:extLst>
          </p:cNvPr>
          <p:cNvSpPr txBox="1"/>
          <p:nvPr/>
        </p:nvSpPr>
        <p:spPr>
          <a:xfrm>
            <a:off x="5259897" y="5728818"/>
            <a:ext cx="800986" cy="497384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8A8E8"/>
                </a:solidFill>
                <a:latin typeface="+mj-lt"/>
              </a:rPr>
              <a:t>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85FB425-7DD7-7D51-0099-92991A8CD1E2}"/>
              </a:ext>
            </a:extLst>
          </p:cNvPr>
          <p:cNvSpPr txBox="1"/>
          <p:nvPr/>
        </p:nvSpPr>
        <p:spPr>
          <a:xfrm>
            <a:off x="11245733" y="2779832"/>
            <a:ext cx="800986" cy="497384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9FA80"/>
                </a:solidFill>
                <a:latin typeface="+mj-lt"/>
              </a:rPr>
              <a:t>rx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5B0E95D-FFC6-3207-FCB3-D86DA0451FBF}"/>
              </a:ext>
            </a:extLst>
          </p:cNvPr>
          <p:cNvCxnSpPr>
            <a:cxnSpLocks/>
          </p:cNvCxnSpPr>
          <p:nvPr/>
        </p:nvCxnSpPr>
        <p:spPr>
          <a:xfrm>
            <a:off x="6398929" y="2700611"/>
            <a:ext cx="3974295" cy="0"/>
          </a:xfrm>
          <a:prstGeom prst="straightConnector1">
            <a:avLst/>
          </a:prstGeom>
          <a:ln w="69850" cap="sq">
            <a:solidFill>
              <a:srgbClr val="09FA80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FC3460-D395-06BE-E067-FEB8ABFF5739}"/>
              </a:ext>
            </a:extLst>
          </p:cNvPr>
          <p:cNvCxnSpPr>
            <a:cxnSpLocks/>
          </p:cNvCxnSpPr>
          <p:nvPr/>
        </p:nvCxnSpPr>
        <p:spPr>
          <a:xfrm flipH="1">
            <a:off x="6344739" y="2758513"/>
            <a:ext cx="9728" cy="3019059"/>
          </a:xfrm>
          <a:prstGeom prst="straightConnector1">
            <a:avLst/>
          </a:prstGeom>
          <a:ln w="69850" cap="sq">
            <a:solidFill>
              <a:srgbClr val="28A8E8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3680E00-996B-8A46-9132-685069B32CDB}"/>
              </a:ext>
            </a:extLst>
          </p:cNvPr>
          <p:cNvSpPr txBox="1"/>
          <p:nvPr/>
        </p:nvSpPr>
        <p:spPr>
          <a:xfrm>
            <a:off x="6474287" y="2912375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119974-3FDD-2057-7E9D-2A1C79058131}"/>
              </a:ext>
            </a:extLst>
          </p:cNvPr>
          <p:cNvSpPr txBox="1"/>
          <p:nvPr/>
        </p:nvSpPr>
        <p:spPr>
          <a:xfrm>
            <a:off x="8222275" y="2912375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5F1B19-4CE7-5908-E8EF-8228D9EC19E8}"/>
              </a:ext>
            </a:extLst>
          </p:cNvPr>
          <p:cNvSpPr txBox="1"/>
          <p:nvPr/>
        </p:nvSpPr>
        <p:spPr>
          <a:xfrm>
            <a:off x="9984408" y="2912375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392D52-1310-E0C5-D51C-CD01C42BE436}"/>
              </a:ext>
            </a:extLst>
          </p:cNvPr>
          <p:cNvSpPr txBox="1"/>
          <p:nvPr/>
        </p:nvSpPr>
        <p:spPr>
          <a:xfrm>
            <a:off x="6459812" y="4364919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DF6922-7A6D-4274-CE7D-095158BEDD4E}"/>
              </a:ext>
            </a:extLst>
          </p:cNvPr>
          <p:cNvSpPr txBox="1"/>
          <p:nvPr/>
        </p:nvSpPr>
        <p:spPr>
          <a:xfrm>
            <a:off x="8221054" y="4348861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13069D-E137-2945-76AC-2670C76D5EDB}"/>
              </a:ext>
            </a:extLst>
          </p:cNvPr>
          <p:cNvSpPr txBox="1"/>
          <p:nvPr/>
        </p:nvSpPr>
        <p:spPr>
          <a:xfrm>
            <a:off x="9987754" y="4362163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28555D-2181-5C56-6E8D-8857024B2456}"/>
              </a:ext>
            </a:extLst>
          </p:cNvPr>
          <p:cNvSpPr txBox="1"/>
          <p:nvPr/>
        </p:nvSpPr>
        <p:spPr>
          <a:xfrm>
            <a:off x="6469687" y="5777572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0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3702AB-0D02-6437-5DFB-107B77070128}"/>
              </a:ext>
            </a:extLst>
          </p:cNvPr>
          <p:cNvSpPr txBox="1"/>
          <p:nvPr/>
        </p:nvSpPr>
        <p:spPr>
          <a:xfrm>
            <a:off x="8227470" y="5783811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1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596B1C-D595-3633-705E-C266AE34EB21}"/>
              </a:ext>
            </a:extLst>
          </p:cNvPr>
          <p:cNvSpPr txBox="1"/>
          <p:nvPr/>
        </p:nvSpPr>
        <p:spPr>
          <a:xfrm>
            <a:off x="9993119" y="5783811"/>
            <a:ext cx="756612" cy="364748"/>
          </a:xfrm>
          <a:prstGeom prst="roundRect">
            <a:avLst>
              <a:gd name="adj" fmla="val 12373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+mj-lt"/>
              </a:rPr>
              <a:t>[</a:t>
            </a:r>
            <a:r>
              <a:rPr lang="en-US" sz="1600" dirty="0">
                <a:solidFill>
                  <a:srgbClr val="00B0F0"/>
                </a:solidFill>
                <a:latin typeface="+mj-lt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][</a:t>
            </a:r>
            <a:r>
              <a:rPr lang="en-US" sz="1600" dirty="0">
                <a:solidFill>
                  <a:srgbClr val="09FA80"/>
                </a:solidFill>
                <a:latin typeface="+mj-lt"/>
              </a:rPr>
              <a:t>2</a:t>
            </a:r>
            <a:r>
              <a:rPr lang="en-US" sz="1600" dirty="0">
                <a:solidFill>
                  <a:srgbClr val="FF0000"/>
                </a:solidFill>
                <a:latin typeface="+mj-lt"/>
              </a:rPr>
              <a:t>]</a:t>
            </a:r>
          </a:p>
        </p:txBody>
      </p:sp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C9355FD8-D5E2-CD12-FF4E-EBB011965C0F}"/>
              </a:ext>
            </a:extLst>
          </p:cNvPr>
          <p:cNvSpPr txBox="1">
            <a:spLocks/>
          </p:cNvSpPr>
          <p:nvPr/>
        </p:nvSpPr>
        <p:spPr>
          <a:xfrm>
            <a:off x="413585" y="1281163"/>
            <a:ext cx="11006490" cy="127641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1: cd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Exercise.2-CartesianTopology/{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2: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Complete the “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TODO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” tasks in 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stencil_cart_shift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.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Aptos Mono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745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0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8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21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8" grpId="0" animBg="1"/>
      <p:bldP spid="76" grpId="0"/>
      <p:bldP spid="77" grpId="0"/>
      <p:bldP spid="5" grpId="0" animBg="1"/>
      <p:bldP spid="5" grpId="1" animBg="1"/>
      <p:bldP spid="22" grpId="0" animBg="1"/>
      <p:bldP spid="22" grpId="1" animBg="1"/>
      <p:bldP spid="36" grpId="0" animBg="1"/>
      <p:bldP spid="36" grpId="1" animBg="1"/>
      <p:bldP spid="37" grpId="0" animBg="1"/>
      <p:bldP spid="37" grpId="1" animBg="1"/>
      <p:bldP spid="40" grpId="0" animBg="1"/>
      <p:bldP spid="40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31A6686-3A9C-AA47-F977-14B3D25CD4BF}"/>
              </a:ext>
            </a:extLst>
          </p:cNvPr>
          <p:cNvSpPr txBox="1">
            <a:spLocks/>
          </p:cNvSpPr>
          <p:nvPr/>
        </p:nvSpPr>
        <p:spPr>
          <a:xfrm>
            <a:off x="413585" y="1281163"/>
            <a:ext cx="11006490" cy="127641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1: cd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Exercise.2-CartesianTopology/{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2: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Complete the “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TODO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” tasks in 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stencil_cart_shift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.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Aptos Mono" panose="020F0502020204030204" pitchFamily="49" charset="0"/>
            </a:endParaRP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Exercise.2	   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Cartesian Virtual Topologies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E8F1B7F-052B-8E52-0D5E-D6199113D7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102978"/>
              </p:ext>
            </p:extLst>
          </p:nvPr>
        </p:nvGraphicFramePr>
        <p:xfrm>
          <a:off x="5587364" y="2969151"/>
          <a:ext cx="4477500" cy="371951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7750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447750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464939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464939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80514" marR="80514" marT="40257" marB="40257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5D4F7C-71FF-83C9-3115-20039884F7B6}"/>
                  </a:ext>
                </a:extLst>
              </p:cNvPr>
              <p:cNvSpPr txBox="1"/>
              <p:nvPr/>
            </p:nvSpPr>
            <p:spPr>
              <a:xfrm>
                <a:off x="1040720" y="2489417"/>
                <a:ext cx="3634393" cy="1015663"/>
              </a:xfrm>
              <a:prstGeom prst="rect">
                <a:avLst/>
              </a:prstGeom>
              <a:noFill/>
              <a:ln w="38100" cap="rnd">
                <a:noFill/>
              </a:ln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4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400" i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4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5D4F7C-71FF-83C9-3115-20039884F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720" y="2489417"/>
                <a:ext cx="3634393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 cap="rnd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2310EEE-843E-DE8E-AA12-24E37989A7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6" b="99306" l="9743" r="97700">
                        <a14:foregroundMark x1="56834" y1="94444" x2="56834" y2="94444"/>
                        <a14:foregroundMark x1="93775" y1="81944" x2="93775" y2="81944"/>
                        <a14:foregroundMark x1="97700" y1="82639" x2="97700" y2="82639"/>
                        <a14:foregroundMark x1="53045" y1="99306" x2="53045" y2="99306"/>
                        <a14:backgroundMark x1="53180" y1="99479" x2="53180" y2="99479"/>
                        <a14:backgroundMark x1="52909" y1="99479" x2="52909" y2="99479"/>
                      </a14:backgroundRemoval>
                    </a14:imgEffect>
                  </a14:imgLayer>
                </a14:imgProps>
              </a:ext>
            </a:extLst>
          </a:blip>
          <a:srcRect l="15513" t="26056"/>
          <a:stretch/>
        </p:blipFill>
        <p:spPr>
          <a:xfrm>
            <a:off x="839338" y="3623036"/>
            <a:ext cx="4037156" cy="2754013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B8EEDA82-09ED-AB87-1E1A-C0748246588B}"/>
              </a:ext>
            </a:extLst>
          </p:cNvPr>
          <p:cNvGrpSpPr/>
          <p:nvPr/>
        </p:nvGrpSpPr>
        <p:grpSpPr>
          <a:xfrm>
            <a:off x="6046629" y="2489417"/>
            <a:ext cx="3554571" cy="431066"/>
            <a:chOff x="6046629" y="2489417"/>
            <a:chExt cx="3554571" cy="431066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04688C54-F493-57D8-4E5C-F3168A4DCE32}"/>
                </a:ext>
              </a:extLst>
            </p:cNvPr>
            <p:cNvSpPr/>
            <p:nvPr/>
          </p:nvSpPr>
          <p:spPr>
            <a:xfrm rot="16200000">
              <a:off x="7671532" y="942146"/>
              <a:ext cx="304765" cy="3554571"/>
            </a:xfrm>
            <a:prstGeom prst="rightBrac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F03788F-2C33-4800-76ED-1FA9A915B2DB}"/>
                </a:ext>
              </a:extLst>
            </p:cNvPr>
            <p:cNvSpPr txBox="1"/>
            <p:nvPr/>
          </p:nvSpPr>
          <p:spPr>
            <a:xfrm>
              <a:off x="7423421" y="2489417"/>
              <a:ext cx="800986" cy="431066"/>
            </a:xfrm>
            <a:prstGeom prst="roundRect">
              <a:avLst>
                <a:gd name="adj" fmla="val 1237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9FA80"/>
                  </a:solidFill>
                  <a:latin typeface="+mj-lt"/>
                </a:rPr>
                <a:t>bx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58CD21E-FA4A-3036-7346-73BFF0E6C668}"/>
              </a:ext>
            </a:extLst>
          </p:cNvPr>
          <p:cNvGrpSpPr/>
          <p:nvPr/>
        </p:nvGrpSpPr>
        <p:grpSpPr>
          <a:xfrm>
            <a:off x="10149941" y="3468567"/>
            <a:ext cx="431066" cy="2748167"/>
            <a:chOff x="10149941" y="3468567"/>
            <a:chExt cx="431066" cy="2748167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F4BD396A-66F0-2E04-EF99-02DAD5DB8E9B}"/>
                </a:ext>
              </a:extLst>
            </p:cNvPr>
            <p:cNvSpPr/>
            <p:nvPr/>
          </p:nvSpPr>
          <p:spPr>
            <a:xfrm>
              <a:off x="10184886" y="3468567"/>
              <a:ext cx="304765" cy="2748167"/>
            </a:xfrm>
            <a:prstGeom prst="rightBrac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F8AFBBE-A7AF-97D2-36A4-672158259A92}"/>
                </a:ext>
              </a:extLst>
            </p:cNvPr>
            <p:cNvSpPr txBox="1"/>
            <p:nvPr/>
          </p:nvSpPr>
          <p:spPr>
            <a:xfrm rot="5400000">
              <a:off x="9964981" y="4613374"/>
              <a:ext cx="800986" cy="431066"/>
            </a:xfrm>
            <a:prstGeom prst="roundRect">
              <a:avLst>
                <a:gd name="adj" fmla="val 1237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  <a:latin typeface="+mj-lt"/>
                </a:rPr>
                <a:t>by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5933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Diagonal Corners Snipped 23">
            <a:extLst>
              <a:ext uri="{FF2B5EF4-FFF2-40B4-BE49-F238E27FC236}">
                <a16:creationId xmlns:a16="http://schemas.microsoft.com/office/drawing/2014/main" id="{98CEDE5A-6C65-44D3-F5E7-FDA0B3564DA7}"/>
              </a:ext>
            </a:extLst>
          </p:cNvPr>
          <p:cNvSpPr/>
          <p:nvPr/>
        </p:nvSpPr>
        <p:spPr>
          <a:xfrm rot="1358051">
            <a:off x="-1981657" y="3437430"/>
            <a:ext cx="14120853" cy="5479912"/>
          </a:xfrm>
          <a:prstGeom prst="snip2DiagRect">
            <a:avLst>
              <a:gd name="adj1" fmla="val 0"/>
              <a:gd name="adj2" fmla="val 0"/>
            </a:avLst>
          </a:prstGeom>
          <a:solidFill>
            <a:srgbClr val="0A09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3AAE8A0F-C268-9DEF-D38B-C54B04F5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Exercise.2	   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Cartesian Virtual Topologies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5D4F7C-71FF-83C9-3115-20039884F7B6}"/>
                  </a:ext>
                </a:extLst>
              </p:cNvPr>
              <p:cNvSpPr txBox="1"/>
              <p:nvPr/>
            </p:nvSpPr>
            <p:spPr>
              <a:xfrm>
                <a:off x="157260" y="5575664"/>
                <a:ext cx="3634393" cy="1015663"/>
              </a:xfrm>
              <a:prstGeom prst="rect">
                <a:avLst/>
              </a:prstGeom>
              <a:noFill/>
              <a:ln w="38100" cap="rnd">
                <a:noFill/>
              </a:ln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4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400" i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4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9A5D4F7C-71FF-83C9-3115-20039884F7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60" y="5575664"/>
                <a:ext cx="3634393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 cap="rnd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>
            <a:extLst>
              <a:ext uri="{FF2B5EF4-FFF2-40B4-BE49-F238E27FC236}">
                <a16:creationId xmlns:a16="http://schemas.microsoft.com/office/drawing/2014/main" id="{84546F18-ED5C-0125-E6AA-C7809B251AC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6" b="99306" l="9743" r="97700">
                        <a14:foregroundMark x1="93775" y1="81944" x2="93775" y2="81944"/>
                        <a14:foregroundMark x1="97700" y1="82639" x2="97700" y2="82639"/>
                        <a14:foregroundMark x1="53045" y1="99306" x2="53045" y2="99306"/>
                        <a14:backgroundMark x1="53180" y1="99479" x2="53180" y2="99479"/>
                        <a14:backgroundMark x1="52909" y1="99479" x2="52909" y2="99479"/>
                        <a14:backgroundMark x1="23816" y1="77083" x2="23816" y2="78472"/>
                        <a14:backgroundMark x1="28417" y1="74306" x2="23004" y2="81076"/>
                        <a14:backgroundMark x1="27605" y1="79167" x2="28823" y2="83507"/>
                        <a14:backgroundMark x1="46008" y1="93924" x2="58863" y2="95313"/>
                        <a14:backgroundMark x1="58863" y1="94097" x2="68471" y2="93750"/>
                        <a14:backgroundMark x1="42219" y1="92361" x2="42219" y2="92361"/>
                        <a14:backgroundMark x1="93640" y1="84201" x2="94452" y2="77778"/>
                        <a14:backgroundMark x1="93640" y1="84201" x2="88092" y2="75694"/>
                        <a14:backgroundMark x1="89851" y1="85069" x2="93640" y2="81076"/>
                      </a14:backgroundRemoval>
                    </a14:imgEffect>
                  </a14:imgLayer>
                </a14:imgProps>
              </a:ext>
            </a:extLst>
          </a:blip>
          <a:srcRect l="15513" t="26056"/>
          <a:stretch/>
        </p:blipFill>
        <p:spPr>
          <a:xfrm>
            <a:off x="1193447" y="1896475"/>
            <a:ext cx="1849237" cy="34823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D1C00B2-005B-11F2-9972-0E76B4FF396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 amt="8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6" b="99306" l="9743" r="97700">
                        <a14:foregroundMark x1="56834" y1="94444" x2="56834" y2="94444"/>
                        <a14:foregroundMark x1="93775" y1="81944" x2="93775" y2="81944"/>
                        <a14:foregroundMark x1="97700" y1="82639" x2="97700" y2="82639"/>
                        <a14:foregroundMark x1="53045" y1="99306" x2="53045" y2="99306"/>
                        <a14:backgroundMark x1="53180" y1="99479" x2="53180" y2="99479"/>
                        <a14:backgroundMark x1="52909" y1="99479" x2="52909" y2="99479"/>
                        <a14:backgroundMark x1="27064" y1="75521" x2="26116" y2="81771"/>
                        <a14:backgroundMark x1="30447" y1="72917" x2="27064" y2="77083"/>
                        <a14:backgroundMark x1="27334" y1="80729" x2="28823" y2="85069"/>
                      </a14:backgroundRemoval>
                    </a14:imgEffect>
                  </a14:imgLayer>
                </a14:imgProps>
              </a:ext>
            </a:extLst>
          </a:blip>
          <a:srcRect l="15513" t="26056"/>
          <a:stretch/>
        </p:blipFill>
        <p:spPr>
          <a:xfrm>
            <a:off x="2078218" y="2888742"/>
            <a:ext cx="3240522" cy="29838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3C9CC82-EAC3-25E6-21D7-0FB162A0DA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9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6" b="99306" l="9743" r="97700">
                        <a14:foregroundMark x1="56834" y1="94444" x2="56834" y2="94444"/>
                        <a14:foregroundMark x1="93775" y1="81944" x2="93775" y2="81944"/>
                        <a14:foregroundMark x1="97700" y1="82639" x2="97700" y2="82639"/>
                        <a14:foregroundMark x1="53045" y1="99306" x2="53045" y2="99306"/>
                        <a14:backgroundMark x1="53180" y1="99479" x2="53180" y2="99479"/>
                        <a14:backgroundMark x1="52909" y1="99479" x2="52909" y2="99479"/>
                      </a14:backgroundRemoval>
                    </a14:imgEffect>
                  </a14:imgLayer>
                </a14:imgProps>
              </a:ext>
            </a:extLst>
          </a:blip>
          <a:srcRect l="15513" t="26056"/>
          <a:stretch/>
        </p:blipFill>
        <p:spPr>
          <a:xfrm>
            <a:off x="3171616" y="4446149"/>
            <a:ext cx="4767915" cy="18661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F235BAB-E450-0FF7-BE9A-081C36C3158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6" b="99306" l="9743" r="97700">
                        <a14:foregroundMark x1="56834" y1="94444" x2="56834" y2="94444"/>
                        <a14:foregroundMark x1="93775" y1="81944" x2="93775" y2="81944"/>
                        <a14:foregroundMark x1="97700" y1="82639" x2="97700" y2="82639"/>
                        <a14:foregroundMark x1="53045" y1="99306" x2="53045" y2="99306"/>
                        <a14:backgroundMark x1="53180" y1="99479" x2="53180" y2="99479"/>
                        <a14:backgroundMark x1="52909" y1="99479" x2="52909" y2="99479"/>
                      </a14:backgroundRemoval>
                    </a14:imgEffect>
                  </a14:imgLayer>
                </a14:imgProps>
              </a:ext>
            </a:extLst>
          </a:blip>
          <a:srcRect l="15513" t="26056"/>
          <a:stretch/>
        </p:blipFill>
        <p:spPr>
          <a:xfrm>
            <a:off x="5037580" y="5584655"/>
            <a:ext cx="5803901" cy="101566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73CB281-036C-9951-9273-93A74D75AA65}"/>
              </a:ext>
            </a:extLst>
          </p:cNvPr>
          <p:cNvSpPr txBox="1"/>
          <p:nvPr/>
        </p:nvSpPr>
        <p:spPr>
          <a:xfrm rot="1375081">
            <a:off x="5440538" y="3116632"/>
            <a:ext cx="1739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Time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F4181A0-36BA-9E0B-60A2-B69447E3123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266"/>
          <a:stretch/>
        </p:blipFill>
        <p:spPr>
          <a:xfrm>
            <a:off x="9363373" y="2576100"/>
            <a:ext cx="2277501" cy="2253106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8278EA-A653-7804-227A-4581C4E1844E}"/>
              </a:ext>
            </a:extLst>
          </p:cNvPr>
          <p:cNvCxnSpPr>
            <a:cxnSpLocks/>
          </p:cNvCxnSpPr>
          <p:nvPr/>
        </p:nvCxnSpPr>
        <p:spPr>
          <a:xfrm>
            <a:off x="3530611" y="2576100"/>
            <a:ext cx="5130776" cy="2148840"/>
          </a:xfrm>
          <a:prstGeom prst="straightConnector1">
            <a:avLst/>
          </a:prstGeom>
          <a:ln w="69850">
            <a:solidFill>
              <a:schemeClr val="bg2">
                <a:lumMod val="75000"/>
              </a:schemeClr>
            </a:solidFill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D2D9A7-F785-DB1A-B624-4E942A7FFDD4}"/>
              </a:ext>
            </a:extLst>
          </p:cNvPr>
          <p:cNvSpPr txBox="1"/>
          <p:nvPr/>
        </p:nvSpPr>
        <p:spPr>
          <a:xfrm>
            <a:off x="6654337" y="2395096"/>
            <a:ext cx="2709036" cy="1200329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>
                    <a:lumMod val="95000"/>
                  </a:schemeClr>
                </a:solidFill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  <a:latin typeface="+mj-lt"/>
              </a:rPr>
              <a:t>20 Minutes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01D14F-4738-27F6-D21D-12FE2E372ADF}"/>
              </a:ext>
            </a:extLst>
          </p:cNvPr>
          <p:cNvSpPr txBox="1"/>
          <p:nvPr/>
        </p:nvSpPr>
        <p:spPr>
          <a:xfrm>
            <a:off x="11692938" y="2576100"/>
            <a:ext cx="429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5C02DD-8337-C1F7-E47B-CB5394FE912C}"/>
              </a:ext>
            </a:extLst>
          </p:cNvPr>
          <p:cNvSpPr txBox="1"/>
          <p:nvPr/>
        </p:nvSpPr>
        <p:spPr>
          <a:xfrm>
            <a:off x="11692938" y="2845913"/>
            <a:ext cx="429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039CC5-B3BB-9C27-87A9-64A0AB921698}"/>
              </a:ext>
            </a:extLst>
          </p:cNvPr>
          <p:cNvSpPr txBox="1"/>
          <p:nvPr/>
        </p:nvSpPr>
        <p:spPr>
          <a:xfrm>
            <a:off x="11692938" y="3115726"/>
            <a:ext cx="429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1B29A3-A54F-24D9-135E-13DDCDBAC9DB}"/>
              </a:ext>
            </a:extLst>
          </p:cNvPr>
          <p:cNvSpPr txBox="1"/>
          <p:nvPr/>
        </p:nvSpPr>
        <p:spPr>
          <a:xfrm>
            <a:off x="11692938" y="3385538"/>
            <a:ext cx="429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20</a:t>
            </a:r>
          </a:p>
        </p:txBody>
      </p:sp>
      <p:pic>
        <p:nvPicPr>
          <p:cNvPr id="9" name="Graphic 8" descr="Hourglass 30% outline">
            <a:extLst>
              <a:ext uri="{FF2B5EF4-FFF2-40B4-BE49-F238E27FC236}">
                <a16:creationId xmlns:a16="http://schemas.microsoft.com/office/drawing/2014/main" id="{D78B329A-0C17-5A93-85DA-249610E8CA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80806" y="3825592"/>
            <a:ext cx="406730" cy="4067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9F1D56-E2A3-B4D3-7A2C-99228E61AF83}"/>
              </a:ext>
            </a:extLst>
          </p:cNvPr>
          <p:cNvSpPr txBox="1"/>
          <p:nvPr/>
        </p:nvSpPr>
        <p:spPr>
          <a:xfrm rot="1364457">
            <a:off x="2669146" y="4189808"/>
            <a:ext cx="86910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3457" lvl="2" indent="0">
              <a:buNone/>
            </a:pPr>
            <a:r>
              <a:rPr lang="en-US" sz="1800" dirty="0">
                <a:solidFill>
                  <a:srgbClr val="FF0000"/>
                </a:solidFill>
                <a:latin typeface="+mj-lt"/>
              </a:rPr>
              <a:t>SOLUTIONS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:  </a:t>
            </a:r>
            <a:r>
              <a:rPr lang="en-US" sz="1800" dirty="0">
                <a:solidFill>
                  <a:srgbClr val="09FA80"/>
                </a:solidFill>
                <a:latin typeface="+mj-lt"/>
              </a:rPr>
              <a:t>cd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 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Exercise.2-CartesianTopology/</a:t>
            </a:r>
            <a:r>
              <a:rPr lang="en-US" sz="1800" dirty="0">
                <a:solidFill>
                  <a:srgbClr val="09FA80"/>
                </a:solidFill>
                <a:latin typeface="Aptos Mono" panose="020B0009020202020204" pitchFamily="49" charset="0"/>
              </a:rPr>
              <a:t>.soln</a:t>
            </a:r>
            <a:endParaRPr lang="en-US" sz="1800" dirty="0">
              <a:solidFill>
                <a:srgbClr val="09FA80"/>
              </a:solidFill>
              <a:latin typeface="+mj-lt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D364E1EE-6D00-B081-4DB0-E19AEC573145}"/>
              </a:ext>
            </a:extLst>
          </p:cNvPr>
          <p:cNvSpPr txBox="1">
            <a:spLocks/>
          </p:cNvSpPr>
          <p:nvPr/>
        </p:nvSpPr>
        <p:spPr>
          <a:xfrm>
            <a:off x="413585" y="1281163"/>
            <a:ext cx="11006490" cy="127641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1: cd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Exercise.2-CartesianTopology/{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2: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Complete the “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TODO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” tasks in 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stencil_cart_shift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.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{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sz="2400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Aptos Mono" panose="020F0502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33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9500"/>
                            </p:stCondLst>
                            <p:childTnLst>
                              <p:par>
                                <p:cTn id="15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18500"/>
                            </p:stCondLst>
                            <p:childTnLst>
                              <p:par>
                                <p:cTn id="1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9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7500"/>
                            </p:stCondLst>
                            <p:childTnLst>
                              <p:par>
                                <p:cTn id="23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59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6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9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5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9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4500"/>
                            </p:stCondLst>
                            <p:childTnLst>
                              <p:par>
                                <p:cTn id="3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9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135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725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31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90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9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49500"/>
                            </p:stCondLst>
                            <p:childTnLst>
                              <p:par>
                                <p:cTn id="55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6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8500"/>
                            </p:stCondLst>
                            <p:childTnLst>
                              <p:par>
                                <p:cTn id="59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67500"/>
                            </p:stCondLst>
                            <p:childTnLst>
                              <p:par>
                                <p:cTn id="63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59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26500"/>
                            </p:stCondLst>
                            <p:childTnLst>
                              <p:par>
                                <p:cTn id="67" presetID="2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9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89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85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9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944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9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3500"/>
                            </p:stCondLst>
                            <p:childTnLst>
                              <p:par>
                                <p:cTn id="7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9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62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9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121500"/>
                            </p:stCondLst>
                            <p:childTnLst>
                              <p:par>
                                <p:cTn id="8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9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80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9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7" grpId="0"/>
      <p:bldP spid="8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C9355FD8-D5E2-CD12-FF4E-EBB011965C0F}"/>
              </a:ext>
            </a:extLst>
          </p:cNvPr>
          <p:cNvSpPr txBox="1">
            <a:spLocks/>
          </p:cNvSpPr>
          <p:nvPr/>
        </p:nvSpPr>
        <p:spPr>
          <a:xfrm>
            <a:off x="413585" y="1281163"/>
            <a:ext cx="11623406" cy="127641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1: cd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Exercise.4-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NeighborhoodCollectives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/{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2: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Complete the “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TODO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” tasks in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stencil_mpi_carttopo_neighcolls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.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{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+mj-lt"/>
            </a:endParaRPr>
          </a:p>
          <a:p>
            <a:pPr marL="283457" lvl="2" indent="0">
              <a:buNone/>
            </a:pPr>
            <a:endParaRPr lang="en-US" sz="2400" dirty="0">
              <a:solidFill>
                <a:schemeClr val="bg1">
                  <a:lumMod val="85000"/>
                </a:schemeClr>
              </a:solidFill>
              <a:latin typeface="Aptos Mono" panose="020F050202020403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DDE9976-390C-A455-157E-D4D2F2438A98}"/>
              </a:ext>
            </a:extLst>
          </p:cNvPr>
          <p:cNvGraphicFramePr>
            <a:graphicFrameLocks noGrp="1"/>
          </p:cNvGraphicFramePr>
          <p:nvPr/>
        </p:nvGraphicFramePr>
        <p:xfrm>
          <a:off x="8603421" y="4534034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5739AE1B-F0F2-44A3-69BC-29408CB08DC1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4534034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CD03DFAF-2311-5E44-E6C6-14AD1F1BE485}"/>
              </a:ext>
            </a:extLst>
          </p:cNvPr>
          <p:cNvGraphicFramePr>
            <a:graphicFrameLocks noGrp="1"/>
          </p:cNvGraphicFramePr>
          <p:nvPr/>
        </p:nvGraphicFramePr>
        <p:xfrm>
          <a:off x="8603421" y="2448426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7B2276B-7955-45D0-D730-05D7ECF99A4D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2448426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E8F1B7F-052B-8E52-0D5E-D6199113D72C}"/>
              </a:ext>
            </a:extLst>
          </p:cNvPr>
          <p:cNvGraphicFramePr>
            <a:graphicFrameLocks noGrp="1"/>
          </p:cNvGraphicFramePr>
          <p:nvPr/>
        </p:nvGraphicFramePr>
        <p:xfrm>
          <a:off x="7348106" y="3491230"/>
          <a:ext cx="2510630" cy="20856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1063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251063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260701">
                <a:tc>
                  <a:txBody>
                    <a:bodyPr/>
                    <a:lstStyle/>
                    <a:p>
                      <a:endParaRPr lang="en-US" sz="90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900" dirty="0"/>
                    </a:p>
                  </a:txBody>
                  <a:tcPr marL="45146" marR="45146" marT="22573" marB="2257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22F818-3213-DC08-6265-4DFCBC2DA21B}"/>
              </a:ext>
            </a:extLst>
          </p:cNvPr>
          <p:cNvCxnSpPr>
            <a:cxnSpLocks/>
          </p:cNvCxnSpPr>
          <p:nvPr/>
        </p:nvCxnSpPr>
        <p:spPr>
          <a:xfrm>
            <a:off x="7598445" y="2448426"/>
            <a:ext cx="0" cy="4171216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C6B7271-BC87-AA45-4293-E8030E61C67E}"/>
              </a:ext>
            </a:extLst>
          </p:cNvPr>
          <p:cNvCxnSpPr>
            <a:cxnSpLocks/>
          </p:cNvCxnSpPr>
          <p:nvPr/>
        </p:nvCxnSpPr>
        <p:spPr>
          <a:xfrm>
            <a:off x="9608516" y="2448426"/>
            <a:ext cx="0" cy="4171216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965119B-4930-CB77-0A3F-41CF95DCB757}"/>
              </a:ext>
            </a:extLst>
          </p:cNvPr>
          <p:cNvCxnSpPr>
            <a:cxnSpLocks/>
          </p:cNvCxnSpPr>
          <p:nvPr/>
        </p:nvCxnSpPr>
        <p:spPr>
          <a:xfrm>
            <a:off x="6096000" y="3750720"/>
            <a:ext cx="5018051" cy="0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FBAE7A9-12BE-647E-8580-248F6D94CA21}"/>
              </a:ext>
            </a:extLst>
          </p:cNvPr>
          <p:cNvCxnSpPr>
            <a:cxnSpLocks/>
          </p:cNvCxnSpPr>
          <p:nvPr/>
        </p:nvCxnSpPr>
        <p:spPr>
          <a:xfrm>
            <a:off x="6096000" y="5311172"/>
            <a:ext cx="5018051" cy="0"/>
          </a:xfrm>
          <a:prstGeom prst="line">
            <a:avLst/>
          </a:prstGeom>
          <a:ln w="60325">
            <a:solidFill>
              <a:srgbClr val="C00000">
                <a:alpha val="9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ontent Placeholder 3">
            <a:extLst>
              <a:ext uri="{FF2B5EF4-FFF2-40B4-BE49-F238E27FC236}">
                <a16:creationId xmlns:a16="http://schemas.microsoft.com/office/drawing/2014/main" id="{B862F220-611E-18D9-1F84-6AD2B089FDC2}"/>
              </a:ext>
            </a:extLst>
          </p:cNvPr>
          <p:cNvSpPr txBox="1">
            <a:spLocks/>
          </p:cNvSpPr>
          <p:nvPr/>
        </p:nvSpPr>
        <p:spPr>
          <a:xfrm>
            <a:off x="328079" y="5849086"/>
            <a:ext cx="5426512" cy="6771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rgbClr val="FFC000"/>
                </a:solidFill>
                <a:latin typeface="+mj-lt"/>
              </a:rPr>
              <a:t>4 Neighbors</a:t>
            </a:r>
          </a:p>
        </p:txBody>
      </p:sp>
      <p:sp>
        <p:nvSpPr>
          <p:cNvPr id="77" name="Content Placeholder 3">
            <a:extLst>
              <a:ext uri="{FF2B5EF4-FFF2-40B4-BE49-F238E27FC236}">
                <a16:creationId xmlns:a16="http://schemas.microsoft.com/office/drawing/2014/main" id="{0FAB5C9C-8A67-9D1B-8B68-FEA1BC263C7C}"/>
              </a:ext>
            </a:extLst>
          </p:cNvPr>
          <p:cNvSpPr txBox="1">
            <a:spLocks/>
          </p:cNvSpPr>
          <p:nvPr/>
        </p:nvSpPr>
        <p:spPr>
          <a:xfrm>
            <a:off x="328079" y="6289625"/>
            <a:ext cx="5426512" cy="48183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 algn="ctr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Typical Communication Pattern</a:t>
            </a:r>
            <a:endParaRPr lang="en-US" sz="2400" dirty="0">
              <a:solidFill>
                <a:srgbClr val="FFC000"/>
              </a:solidFill>
              <a:latin typeface="+mj-lt"/>
            </a:endParaRPr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913B7063-6E1F-C3F0-AEFD-453BEDE4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5" y="-1"/>
            <a:ext cx="10515601" cy="965193"/>
          </a:xfrm>
        </p:spPr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Exercise.3	          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Neighborhood Collectives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5A1A03-1762-03EA-EF23-49AB02F0F908}"/>
                  </a:ext>
                </a:extLst>
              </p:cNvPr>
              <p:cNvSpPr txBox="1"/>
              <p:nvPr/>
            </p:nvSpPr>
            <p:spPr>
              <a:xfrm>
                <a:off x="1292968" y="2271247"/>
                <a:ext cx="3634393" cy="1015663"/>
              </a:xfrm>
              <a:prstGeom prst="rect">
                <a:avLst/>
              </a:prstGeom>
              <a:noFill/>
              <a:ln w="38100" cap="rnd">
                <a:noFill/>
              </a:ln>
            </p:spPr>
            <p:txBody>
              <a:bodyPr wrap="none" lIns="0" tIns="0" rIns="0" bIns="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4400" i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4400" i="0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4400" i="1">
                              <a:solidFill>
                                <a:schemeClr val="bg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4400" i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400" i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44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45A1A03-1762-03EA-EF23-49AB02F0F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2968" y="2271247"/>
                <a:ext cx="3634393" cy="10156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 cap="rnd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36233593-4DF2-127D-B89B-3CDEDD6E06E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896" b="99306" l="9743" r="97700">
                        <a14:foregroundMark x1="56834" y1="94444" x2="56834" y2="94444"/>
                        <a14:foregroundMark x1="93775" y1="81944" x2="93775" y2="81944"/>
                        <a14:foregroundMark x1="97700" y1="82639" x2="97700" y2="82639"/>
                        <a14:foregroundMark x1="53045" y1="99306" x2="53045" y2="99306"/>
                        <a14:backgroundMark x1="53180" y1="99479" x2="53180" y2="99479"/>
                        <a14:backgroundMark x1="52909" y1="99479" x2="52909" y2="99479"/>
                      </a14:backgroundRemoval>
                    </a14:imgEffect>
                  </a14:imgLayer>
                </a14:imgProps>
              </a:ext>
            </a:extLst>
          </a:blip>
          <a:srcRect l="15513" t="26056"/>
          <a:stretch/>
        </p:blipFill>
        <p:spPr>
          <a:xfrm>
            <a:off x="1091586" y="3116101"/>
            <a:ext cx="4037156" cy="275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764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39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2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5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6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48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ontent Placeholder 3">
            <a:extLst>
              <a:ext uri="{FF2B5EF4-FFF2-40B4-BE49-F238E27FC236}">
                <a16:creationId xmlns:a16="http://schemas.microsoft.com/office/drawing/2014/main" id="{C9355FD8-D5E2-CD12-FF4E-EBB011965C0F}"/>
              </a:ext>
            </a:extLst>
          </p:cNvPr>
          <p:cNvSpPr txBox="1">
            <a:spLocks/>
          </p:cNvSpPr>
          <p:nvPr/>
        </p:nvSpPr>
        <p:spPr>
          <a:xfrm>
            <a:off x="413585" y="1281163"/>
            <a:ext cx="11623406" cy="1276418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1: cd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F0502020204030204" pitchFamily="49" charset="0"/>
              </a:rPr>
              <a:t>exercises/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Exercise.4-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NeighborhoodCollectives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/{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  <a:p>
            <a:pPr marL="283457" lvl="2" indent="0">
              <a:buNone/>
            </a:pPr>
            <a:r>
              <a:rPr lang="en-US" sz="2400" dirty="0">
                <a:solidFill>
                  <a:srgbClr val="09FA80"/>
                </a:solidFill>
                <a:latin typeface="+mj-lt"/>
              </a:rPr>
              <a:t>Step 2: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Complete the “</a:t>
            </a:r>
            <a:r>
              <a:rPr lang="en-US" sz="2400" dirty="0">
                <a:solidFill>
                  <a:srgbClr val="FFC000"/>
                </a:solidFill>
                <a:latin typeface="+mj-lt"/>
              </a:rPr>
              <a:t>TODO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” tasks in </a:t>
            </a:r>
            <a:r>
              <a:rPr lang="en-US" dirty="0">
                <a:solidFill>
                  <a:srgbClr val="FFC000"/>
                </a:solidFill>
                <a:latin typeface="+mj-lt"/>
              </a:rPr>
              <a:t>stencil_mpi_carttopo_neighcolls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.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{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c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 or </a:t>
            </a:r>
            <a:r>
              <a:rPr lang="en-US" dirty="0">
                <a:solidFill>
                  <a:srgbClr val="FFC000"/>
                </a:solidFill>
                <a:latin typeface="Aptos Mono" panose="020B0009020202020204" pitchFamily="49" charset="0"/>
              </a:rPr>
              <a:t>f90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Aptos Mono" panose="020B0009020202020204" pitchFamily="49" charset="0"/>
              </a:rPr>
              <a:t>}</a:t>
            </a:r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D73C4F2B-FEED-82DB-5620-A77A4642C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049776"/>
              </p:ext>
            </p:extLst>
          </p:nvPr>
        </p:nvGraphicFramePr>
        <p:xfrm>
          <a:off x="885675" y="6193324"/>
          <a:ext cx="10420648" cy="365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2166">
                  <a:extLst>
                    <a:ext uri="{9D8B030D-6E8A-4147-A177-3AD203B41FA5}">
                      <a16:colId xmlns:a16="http://schemas.microsoft.com/office/drawing/2014/main" val="164355148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67768898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95840331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4868510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408000696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894641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45924944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74650233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021231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227637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395273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1163445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33445725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85615678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83533841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9463238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5137534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65660359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52894694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65930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1912143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9226352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35079919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688334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51869480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5338058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9302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79944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29808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2A718E15-FEFD-8E45-D1EC-9D6FFBBEB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240709"/>
              </p:ext>
            </p:extLst>
          </p:nvPr>
        </p:nvGraphicFramePr>
        <p:xfrm>
          <a:off x="885675" y="6193324"/>
          <a:ext cx="10420648" cy="365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2166">
                  <a:extLst>
                    <a:ext uri="{9D8B030D-6E8A-4147-A177-3AD203B41FA5}">
                      <a16:colId xmlns:a16="http://schemas.microsoft.com/office/drawing/2014/main" val="164355148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67768898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95840331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4868510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408000696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894641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45924944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74650233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021231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227637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395273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1163445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33445725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85615678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83533841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9463238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5137534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65660359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52894694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65930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1912143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9226352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35079919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688334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51869480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5338058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9302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79944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29808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F6A2E1FB-136F-0DDC-87BB-C0AE68B8C2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215687"/>
              </p:ext>
            </p:extLst>
          </p:nvPr>
        </p:nvGraphicFramePr>
        <p:xfrm>
          <a:off x="885675" y="6193324"/>
          <a:ext cx="10420648" cy="365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2166">
                  <a:extLst>
                    <a:ext uri="{9D8B030D-6E8A-4147-A177-3AD203B41FA5}">
                      <a16:colId xmlns:a16="http://schemas.microsoft.com/office/drawing/2014/main" val="164355148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67768898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95840331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4868510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408000696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894641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45924944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74650233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021231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227637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395273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1163445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33445725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85615678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83533841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9463238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5137534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65660359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52894694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65930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1912143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9226352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35079919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688334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51869480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5338058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9302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79944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29808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A72F4221-2DB7-FF16-FFC2-C1169564F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317650"/>
              </p:ext>
            </p:extLst>
          </p:nvPr>
        </p:nvGraphicFramePr>
        <p:xfrm>
          <a:off x="885675" y="6193324"/>
          <a:ext cx="10420648" cy="365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2166">
                  <a:extLst>
                    <a:ext uri="{9D8B030D-6E8A-4147-A177-3AD203B41FA5}">
                      <a16:colId xmlns:a16="http://schemas.microsoft.com/office/drawing/2014/main" val="164355148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67768898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95840331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4868510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408000696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894641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45924944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74650233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021231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227637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395273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1163445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33445725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85615678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83533841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9463238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5137534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65660359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52894694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65930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1912143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9226352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35079919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688334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51869480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5338058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9302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79944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27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29808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F925A8D6-3BE6-C9C1-BF5E-FB7842F92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050061"/>
              </p:ext>
            </p:extLst>
          </p:nvPr>
        </p:nvGraphicFramePr>
        <p:xfrm>
          <a:off x="885675" y="6193324"/>
          <a:ext cx="10420648" cy="3657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72166">
                  <a:extLst>
                    <a:ext uri="{9D8B030D-6E8A-4147-A177-3AD203B41FA5}">
                      <a16:colId xmlns:a16="http://schemas.microsoft.com/office/drawing/2014/main" val="164355148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67768898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95840331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4868510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408000696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894641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459249440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74650233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021231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227637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395273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1163445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33445725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85615678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83533841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94632380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51375343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656603591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652894694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65930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1912143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59226352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135079919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768833482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1518694805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3533805867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217930246"/>
                    </a:ext>
                  </a:extLst>
                </a:gridCol>
                <a:gridCol w="372166">
                  <a:extLst>
                    <a:ext uri="{9D8B030D-6E8A-4147-A177-3AD203B41FA5}">
                      <a16:colId xmlns:a16="http://schemas.microsoft.com/office/drawing/2014/main" val="79944431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F0000"/>
                          </a:solidFill>
                        </a:rPr>
                        <a:t>11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18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19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21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22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23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24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25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26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27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29808"/>
                  </a:ext>
                </a:extLst>
              </a:tr>
            </a:tbl>
          </a:graphicData>
        </a:graphic>
      </p:graphicFrame>
      <p:sp>
        <p:nvSpPr>
          <p:cNvPr id="35" name="Content Placeholder 3">
            <a:extLst>
              <a:ext uri="{FF2B5EF4-FFF2-40B4-BE49-F238E27FC236}">
                <a16:creationId xmlns:a16="http://schemas.microsoft.com/office/drawing/2014/main" id="{3F8A5447-6881-8E9A-4008-18C2D33C4FA0}"/>
              </a:ext>
            </a:extLst>
          </p:cNvPr>
          <p:cNvSpPr txBox="1">
            <a:spLocks/>
          </p:cNvSpPr>
          <p:nvPr/>
        </p:nvSpPr>
        <p:spPr>
          <a:xfrm>
            <a:off x="147145" y="2602201"/>
            <a:ext cx="6937801" cy="29525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kern="1200" spc="0" baseline="0">
                <a:solidFill>
                  <a:schemeClr val="bg1"/>
                </a:solidFill>
                <a:latin typeface="+mn-lt"/>
                <a:ea typeface="+mn-ea"/>
                <a:cs typeface="Biome" panose="020B0503030204020804" pitchFamily="34" charset="0"/>
              </a:defRPr>
            </a:lvl1pPr>
            <a:lvl2pPr marL="283457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66914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59515" indent="-285744" algn="l" defTabSz="914377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kern="1200" spc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114498" indent="-28574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3457" lvl="2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Pack Send Buffer (</a:t>
            </a:r>
            <a:r>
              <a:rPr lang="en-US" sz="2400" dirty="0">
                <a:solidFill>
                  <a:srgbClr val="33A400"/>
                </a:solidFill>
                <a:latin typeface="+mj-lt"/>
              </a:rPr>
              <a:t>green cells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)</a:t>
            </a:r>
          </a:p>
          <a:p>
            <a:pPr marL="626357" lvl="2" indent="-34290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FF00"/>
                </a:solidFill>
                <a:latin typeface="+mj-lt"/>
              </a:rPr>
              <a:t>West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East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North</a:t>
            </a: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400" dirty="0">
                <a:solidFill>
                  <a:srgbClr val="09FA80"/>
                </a:solidFill>
                <a:latin typeface="+mj-lt"/>
              </a:rPr>
              <a:t>South</a:t>
            </a:r>
          </a:p>
          <a:p>
            <a:pPr marL="576058" lvl="3" indent="0">
              <a:lnSpc>
                <a:spcPct val="100000"/>
              </a:lnSpc>
              <a:buNone/>
            </a:pPr>
            <a:r>
              <a:rPr lang="en-US" sz="24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Recall Neighbor Ordering  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rgbClr val="FFFF00"/>
                </a:solidFill>
                <a:latin typeface="+mj-lt"/>
              </a:rPr>
              <a:t>X-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X+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Y-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000" dirty="0">
                <a:solidFill>
                  <a:srgbClr val="09FA80"/>
                </a:solidFill>
                <a:latin typeface="+mj-lt"/>
              </a:rPr>
              <a:t>Y+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E69EA-A9E8-C521-7C62-DA1F2487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7AA89C6-53F5-3A83-4C03-15484EB42059}"/>
              </a:ext>
            </a:extLst>
          </p:cNvPr>
          <p:cNvSpPr>
            <a:spLocks noGrp="1"/>
          </p:cNvSpPr>
          <p:nvPr/>
        </p:nvSpPr>
        <p:spPr>
          <a:xfrm>
            <a:off x="946216" y="100719"/>
            <a:ext cx="8509672" cy="18137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u="none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4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D1ED4C10-7608-5C73-DC95-D27C18C1CE19}"/>
              </a:ext>
            </a:extLst>
          </p:cNvPr>
          <p:cNvSpPr txBox="1">
            <a:spLocks/>
          </p:cNvSpPr>
          <p:nvPr/>
        </p:nvSpPr>
        <p:spPr>
          <a:xfrm>
            <a:off x="9140971" y="622620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Biome" panose="020B05030302040208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024F78-56A6-7740-B68D-8D4D026EDF3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itle 18">
            <a:extLst>
              <a:ext uri="{FF2B5EF4-FFF2-40B4-BE49-F238E27FC236}">
                <a16:creationId xmlns:a16="http://schemas.microsoft.com/office/drawing/2014/main" id="{913B7063-6E1F-C3F0-AEFD-453BEDE4C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5" y="-1"/>
            <a:ext cx="10515601" cy="965193"/>
          </a:xfrm>
        </p:spPr>
        <p:txBody>
          <a:bodyPr/>
          <a:lstStyle/>
          <a:p>
            <a:r>
              <a:rPr lang="en-US" dirty="0">
                <a:solidFill>
                  <a:srgbClr val="04FCFC"/>
                </a:solidFill>
              </a:rPr>
              <a:t>Exercise.	              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Neighborhood Collectives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E459B343-4F01-1939-C248-1A8267BB38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087903"/>
              </p:ext>
            </p:extLst>
          </p:nvPr>
        </p:nvGraphicFramePr>
        <p:xfrm>
          <a:off x="6654816" y="2755045"/>
          <a:ext cx="3876310" cy="3220096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87631">
                  <a:extLst>
                    <a:ext uri="{9D8B030D-6E8A-4147-A177-3AD203B41FA5}">
                      <a16:colId xmlns:a16="http://schemas.microsoft.com/office/drawing/2014/main" val="2151650388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1548476783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3820410633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4178377480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3817930997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2471295556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72724090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1635578098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3395179406"/>
                    </a:ext>
                  </a:extLst>
                </a:gridCol>
                <a:gridCol w="387631">
                  <a:extLst>
                    <a:ext uri="{9D8B030D-6E8A-4147-A177-3AD203B41FA5}">
                      <a16:colId xmlns:a16="http://schemas.microsoft.com/office/drawing/2014/main" val="3635817569"/>
                    </a:ext>
                  </a:extLst>
                </a:gridCol>
              </a:tblGrid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69254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2254465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5281149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510897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51576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686069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A4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791870"/>
                  </a:ext>
                </a:extLst>
              </a:tr>
              <a:tr h="402512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9703" marR="69703" marT="34852" marB="34852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3555456"/>
                  </a:ext>
                </a:extLst>
              </a:tr>
            </a:tbl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47A0BD15-2067-8604-38FA-8CF8911247CD}"/>
              </a:ext>
            </a:extLst>
          </p:cNvPr>
          <p:cNvGrpSpPr/>
          <p:nvPr/>
        </p:nvGrpSpPr>
        <p:grpSpPr>
          <a:xfrm>
            <a:off x="7056276" y="2364542"/>
            <a:ext cx="3077301" cy="373187"/>
            <a:chOff x="6046629" y="2489417"/>
            <a:chExt cx="3554571" cy="431066"/>
          </a:xfrm>
        </p:grpSpPr>
        <p:sp>
          <p:nvSpPr>
            <p:cNvPr id="24" name="Right Brace 23">
              <a:extLst>
                <a:ext uri="{FF2B5EF4-FFF2-40B4-BE49-F238E27FC236}">
                  <a16:creationId xmlns:a16="http://schemas.microsoft.com/office/drawing/2014/main" id="{18CAC7B9-0915-656B-3CA1-1684BB7AE8CA}"/>
                </a:ext>
              </a:extLst>
            </p:cNvPr>
            <p:cNvSpPr/>
            <p:nvPr/>
          </p:nvSpPr>
          <p:spPr>
            <a:xfrm rot="16200000">
              <a:off x="7671532" y="942146"/>
              <a:ext cx="304765" cy="3554571"/>
            </a:xfrm>
            <a:prstGeom prst="rightBrac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1B38FAE-B59E-AA33-5D3B-3E080EBB4301}"/>
                </a:ext>
              </a:extLst>
            </p:cNvPr>
            <p:cNvSpPr txBox="1"/>
            <p:nvPr/>
          </p:nvSpPr>
          <p:spPr>
            <a:xfrm>
              <a:off x="7423421" y="2489417"/>
              <a:ext cx="800986" cy="431066"/>
            </a:xfrm>
            <a:prstGeom prst="roundRect">
              <a:avLst>
                <a:gd name="adj" fmla="val 1237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9FA80"/>
                  </a:solidFill>
                  <a:latin typeface="+mj-lt"/>
                </a:rPr>
                <a:t>bx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E9EF77-70D6-B32F-533B-C5E829728631}"/>
              </a:ext>
            </a:extLst>
          </p:cNvPr>
          <p:cNvGrpSpPr/>
          <p:nvPr/>
        </p:nvGrpSpPr>
        <p:grpSpPr>
          <a:xfrm>
            <a:off x="10540137" y="3175506"/>
            <a:ext cx="373187" cy="2379173"/>
            <a:chOff x="10149940" y="3468567"/>
            <a:chExt cx="431066" cy="2748167"/>
          </a:xfrm>
        </p:grpSpPr>
        <p:sp>
          <p:nvSpPr>
            <p:cNvPr id="29" name="Right Brace 28">
              <a:extLst>
                <a:ext uri="{FF2B5EF4-FFF2-40B4-BE49-F238E27FC236}">
                  <a16:creationId xmlns:a16="http://schemas.microsoft.com/office/drawing/2014/main" id="{E9A86688-94BF-6AEB-8608-7DBACF634985}"/>
                </a:ext>
              </a:extLst>
            </p:cNvPr>
            <p:cNvSpPr/>
            <p:nvPr/>
          </p:nvSpPr>
          <p:spPr>
            <a:xfrm>
              <a:off x="10184882" y="3468567"/>
              <a:ext cx="304766" cy="2748167"/>
            </a:xfrm>
            <a:prstGeom prst="rightBrac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668BB72-98CB-0DCB-7011-C38816654FAF}"/>
                </a:ext>
              </a:extLst>
            </p:cNvPr>
            <p:cNvSpPr txBox="1"/>
            <p:nvPr/>
          </p:nvSpPr>
          <p:spPr>
            <a:xfrm rot="5400000">
              <a:off x="9964980" y="4613374"/>
              <a:ext cx="800986" cy="431066"/>
            </a:xfrm>
            <a:prstGeom prst="roundRect">
              <a:avLst>
                <a:gd name="adj" fmla="val 12373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  <a:latin typeface="+mj-lt"/>
                </a:rPr>
                <a:t>by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431D9861-0850-83D3-7145-CB2D30B507FC}"/>
              </a:ext>
            </a:extLst>
          </p:cNvPr>
          <p:cNvSpPr txBox="1"/>
          <p:nvPr/>
        </p:nvSpPr>
        <p:spPr>
          <a:xfrm>
            <a:off x="3703" y="6136048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33A400"/>
                </a:solidFill>
                <a:latin typeface="+mj-lt"/>
              </a:rPr>
              <a:t>sbuf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4B00B2-1EFF-9256-DA6B-3F576653C29C}"/>
              </a:ext>
            </a:extLst>
          </p:cNvPr>
          <p:cNvSpPr txBox="1"/>
          <p:nvPr/>
        </p:nvSpPr>
        <p:spPr>
          <a:xfrm rot="16200000">
            <a:off x="6798786" y="4223269"/>
            <a:ext cx="852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FF00"/>
                </a:solidFill>
                <a:latin typeface="+mj-lt"/>
              </a:rPr>
              <a:t>West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EE10F8D-E53F-A0E8-ED71-DCD612FF7000}"/>
              </a:ext>
            </a:extLst>
          </p:cNvPr>
          <p:cNvSpPr txBox="1"/>
          <p:nvPr/>
        </p:nvSpPr>
        <p:spPr>
          <a:xfrm rot="16200000">
            <a:off x="9528606" y="4226166"/>
            <a:ext cx="852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j-lt"/>
              </a:rPr>
              <a:t>East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1C6F23-75C9-8E06-2B94-AF6D6D4AB3B3}"/>
              </a:ext>
            </a:extLst>
          </p:cNvPr>
          <p:cNvSpPr txBox="1"/>
          <p:nvPr/>
        </p:nvSpPr>
        <p:spPr>
          <a:xfrm>
            <a:off x="8080421" y="3221512"/>
            <a:ext cx="102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North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72D261-4E22-3A79-95A5-D8AD2E154D1A}"/>
              </a:ext>
            </a:extLst>
          </p:cNvPr>
          <p:cNvSpPr txBox="1"/>
          <p:nvPr/>
        </p:nvSpPr>
        <p:spPr>
          <a:xfrm>
            <a:off x="8080421" y="5218289"/>
            <a:ext cx="102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South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C8D43F-EC7F-B0BC-EE00-EF4542E45FAE}"/>
              </a:ext>
            </a:extLst>
          </p:cNvPr>
          <p:cNvSpPr txBox="1"/>
          <p:nvPr/>
        </p:nvSpPr>
        <p:spPr>
          <a:xfrm>
            <a:off x="1551283" y="6531464"/>
            <a:ext cx="852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FF00"/>
                </a:solidFill>
                <a:latin typeface="+mj-lt"/>
              </a:rPr>
              <a:t>West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A32BFE-7633-6150-253E-8933ACE44EBD}"/>
              </a:ext>
            </a:extLst>
          </p:cNvPr>
          <p:cNvSpPr txBox="1"/>
          <p:nvPr/>
        </p:nvSpPr>
        <p:spPr>
          <a:xfrm>
            <a:off x="3808921" y="6541308"/>
            <a:ext cx="852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  <a:latin typeface="+mj-lt"/>
              </a:rPr>
              <a:t>East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E6B505-049C-C543-EF19-AA92A940B098}"/>
              </a:ext>
            </a:extLst>
          </p:cNvPr>
          <p:cNvSpPr txBox="1"/>
          <p:nvPr/>
        </p:nvSpPr>
        <p:spPr>
          <a:xfrm>
            <a:off x="6329880" y="6518705"/>
            <a:ext cx="102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North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D351EAF-8763-518D-588F-072AFF681EDC}"/>
              </a:ext>
            </a:extLst>
          </p:cNvPr>
          <p:cNvSpPr txBox="1"/>
          <p:nvPr/>
        </p:nvSpPr>
        <p:spPr>
          <a:xfrm>
            <a:off x="9314038" y="6507059"/>
            <a:ext cx="102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+mj-lt"/>
              </a:rPr>
              <a:t>South</a:t>
            </a:r>
            <a:endParaRPr lang="en-US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F0D5ABAE-2599-A5D1-9531-4F53175FE3CD}"/>
              </a:ext>
            </a:extLst>
          </p:cNvPr>
          <p:cNvCxnSpPr>
            <a:cxnSpLocks/>
          </p:cNvCxnSpPr>
          <p:nvPr/>
        </p:nvCxnSpPr>
        <p:spPr>
          <a:xfrm>
            <a:off x="3112073" y="6206984"/>
            <a:ext cx="0" cy="54864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7B3C299-2C7E-C402-DB0F-9A9BAD955821}"/>
              </a:ext>
            </a:extLst>
          </p:cNvPr>
          <p:cNvCxnSpPr>
            <a:cxnSpLocks/>
          </p:cNvCxnSpPr>
          <p:nvPr/>
        </p:nvCxnSpPr>
        <p:spPr>
          <a:xfrm>
            <a:off x="885675" y="6206984"/>
            <a:ext cx="0" cy="54864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E18E2F7-81F0-77EB-19CD-1DE6F9AA7338}"/>
              </a:ext>
            </a:extLst>
          </p:cNvPr>
          <p:cNvCxnSpPr>
            <a:cxnSpLocks/>
          </p:cNvCxnSpPr>
          <p:nvPr/>
        </p:nvCxnSpPr>
        <p:spPr>
          <a:xfrm>
            <a:off x="5351841" y="6206984"/>
            <a:ext cx="0" cy="548640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CC2C249-8AEF-0A5F-33B7-4E42C8BCFF64}"/>
              </a:ext>
            </a:extLst>
          </p:cNvPr>
          <p:cNvCxnSpPr>
            <a:cxnSpLocks/>
          </p:cNvCxnSpPr>
          <p:nvPr/>
        </p:nvCxnSpPr>
        <p:spPr>
          <a:xfrm>
            <a:off x="8323642" y="6206984"/>
            <a:ext cx="0" cy="548640"/>
          </a:xfrm>
          <a:prstGeom prst="line">
            <a:avLst/>
          </a:prstGeom>
          <a:ln w="38100">
            <a:solidFill>
              <a:srgbClr val="09FA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45E4686-8058-9DE0-08BC-6B501D025D3C}"/>
              </a:ext>
            </a:extLst>
          </p:cNvPr>
          <p:cNvSpPr txBox="1"/>
          <p:nvPr/>
        </p:nvSpPr>
        <p:spPr>
          <a:xfrm>
            <a:off x="727665" y="4146012"/>
            <a:ext cx="5848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Counts[4] = {</a:t>
            </a:r>
            <a:r>
              <a:rPr lang="en-US" sz="2800" dirty="0">
                <a:solidFill>
                  <a:srgbClr val="FFFF00"/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800" dirty="0">
                <a:solidFill>
                  <a:srgbClr val="09FA80"/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}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770C1CDD-E714-3EE1-47DC-F629646E3737}"/>
              </a:ext>
            </a:extLst>
          </p:cNvPr>
          <p:cNvCxnSpPr>
            <a:cxnSpLocks/>
          </p:cNvCxnSpPr>
          <p:nvPr/>
        </p:nvCxnSpPr>
        <p:spPr>
          <a:xfrm flipH="1">
            <a:off x="885676" y="5276320"/>
            <a:ext cx="3597340" cy="551666"/>
          </a:xfrm>
          <a:prstGeom prst="straightConnector1">
            <a:avLst/>
          </a:prstGeom>
          <a:ln w="22225"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33093836-6D98-44F5-B044-BC052FA8663F}"/>
              </a:ext>
            </a:extLst>
          </p:cNvPr>
          <p:cNvCxnSpPr>
            <a:cxnSpLocks/>
          </p:cNvCxnSpPr>
          <p:nvPr/>
        </p:nvCxnSpPr>
        <p:spPr>
          <a:xfrm flipH="1">
            <a:off x="3195145" y="5253409"/>
            <a:ext cx="1630169" cy="516228"/>
          </a:xfrm>
          <a:prstGeom prst="straightConnector1">
            <a:avLst/>
          </a:prstGeom>
          <a:ln w="22225">
            <a:solidFill>
              <a:srgbClr val="FF0000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CCA3FA4-B991-1A30-938E-8D369BAFC5C0}"/>
              </a:ext>
            </a:extLst>
          </p:cNvPr>
          <p:cNvCxnSpPr>
            <a:cxnSpLocks/>
          </p:cNvCxnSpPr>
          <p:nvPr/>
        </p:nvCxnSpPr>
        <p:spPr>
          <a:xfrm>
            <a:off x="5216631" y="5276320"/>
            <a:ext cx="128495" cy="619983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A390C0B-9DDC-5E68-70B9-3E0D0549E73A}"/>
              </a:ext>
            </a:extLst>
          </p:cNvPr>
          <p:cNvCxnSpPr>
            <a:cxnSpLocks/>
          </p:cNvCxnSpPr>
          <p:nvPr/>
        </p:nvCxnSpPr>
        <p:spPr>
          <a:xfrm>
            <a:off x="5604972" y="5276320"/>
            <a:ext cx="2643235" cy="677259"/>
          </a:xfrm>
          <a:prstGeom prst="straightConnector1">
            <a:avLst/>
          </a:prstGeom>
          <a:ln w="22225">
            <a:solidFill>
              <a:srgbClr val="09FA80"/>
            </a:solidFill>
            <a:tailEnd type="triangle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6CD5C9E9-7491-EFB8-16C6-47A309965B69}"/>
              </a:ext>
            </a:extLst>
          </p:cNvPr>
          <p:cNvSpPr txBox="1"/>
          <p:nvPr/>
        </p:nvSpPr>
        <p:spPr>
          <a:xfrm>
            <a:off x="727665" y="4771269"/>
            <a:ext cx="58480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Displacements[4] = {</a:t>
            </a:r>
            <a:r>
              <a:rPr lang="en-US" sz="2800" dirty="0">
                <a:solidFill>
                  <a:srgbClr val="FFFF00"/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, </a:t>
            </a:r>
            <a:r>
              <a:rPr lang="en-US" sz="2800" dirty="0">
                <a:solidFill>
                  <a:srgbClr val="09FA80"/>
                </a:solidFill>
                <a:latin typeface="+mj-lt"/>
              </a:rPr>
              <a:t>?</a:t>
            </a:r>
            <a:r>
              <a:rPr lang="en-US" sz="2800" dirty="0">
                <a:solidFill>
                  <a:schemeClr val="bg1">
                    <a:lumMod val="85000"/>
                  </a:schemeClr>
                </a:solidFill>
                <a:latin typeface="+mj-lt"/>
              </a:rPr>
              <a:t>}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3E68006-DEBE-77AA-2A0C-F721CFE4D963}"/>
              </a:ext>
            </a:extLst>
          </p:cNvPr>
          <p:cNvSpPr txBox="1"/>
          <p:nvPr/>
        </p:nvSpPr>
        <p:spPr>
          <a:xfrm>
            <a:off x="7418771" y="3779671"/>
            <a:ext cx="2386986" cy="1200329"/>
          </a:xfrm>
          <a:prstGeom prst="rect">
            <a:avLst/>
          </a:prstGeom>
          <a:noFill/>
          <a:effectLst>
            <a:glow rad="1397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glow rad="228600">
                    <a:schemeClr val="accent6">
                      <a:lumMod val="75000"/>
                    </a:schemeClr>
                  </a:glow>
                </a:effectLst>
                <a:latin typeface="+mj-lt"/>
              </a:rPr>
              <a:t>15 Minutes</a:t>
            </a: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D5D4BF5-567D-5194-93E6-5EAF804D1E8F}"/>
              </a:ext>
            </a:extLst>
          </p:cNvPr>
          <p:cNvGrpSpPr/>
          <p:nvPr/>
        </p:nvGrpSpPr>
        <p:grpSpPr>
          <a:xfrm>
            <a:off x="901440" y="6140597"/>
            <a:ext cx="7412869" cy="45719"/>
            <a:chOff x="901440" y="6119577"/>
            <a:chExt cx="7412869" cy="45719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F9B4F23F-F25F-0B33-85E5-9356F43F1148}"/>
                </a:ext>
              </a:extLst>
            </p:cNvPr>
            <p:cNvGrpSpPr/>
            <p:nvPr/>
          </p:nvGrpSpPr>
          <p:grpSpPr>
            <a:xfrm>
              <a:off x="901440" y="6119577"/>
              <a:ext cx="4425696" cy="45719"/>
              <a:chOff x="3199746" y="3890259"/>
              <a:chExt cx="6069463" cy="0"/>
            </a:xfrm>
          </p:grpSpPr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D1CAE390-8DE3-B0BC-02BA-00CAB179D01D}"/>
                  </a:ext>
                </a:extLst>
              </p:cNvPr>
              <p:cNvGrpSpPr/>
              <p:nvPr/>
            </p:nvGrpSpPr>
            <p:grpSpPr>
              <a:xfrm>
                <a:off x="3199746" y="3890259"/>
                <a:ext cx="2498981" cy="0"/>
                <a:chOff x="3359621" y="2248016"/>
                <a:chExt cx="2498981" cy="0"/>
              </a:xfrm>
            </p:grpSpPr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BE1CB977-BFC3-2042-C8C5-892235A081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9621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>
                  <a:extLst>
                    <a:ext uri="{FF2B5EF4-FFF2-40B4-BE49-F238E27FC236}">
                      <a16:creationId xmlns:a16="http://schemas.microsoft.com/office/drawing/2014/main" id="{4C77623F-4D8D-9297-0AE1-0B23E17616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9556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8" name="Straight Connector 87">
                  <a:extLst>
                    <a:ext uri="{FF2B5EF4-FFF2-40B4-BE49-F238E27FC236}">
                      <a16:creationId xmlns:a16="http://schemas.microsoft.com/office/drawing/2014/main" id="{C1AF2762-43D2-CBB9-50C1-EDF7319B7A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9491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Connector 88">
                  <a:extLst>
                    <a:ext uri="{FF2B5EF4-FFF2-40B4-BE49-F238E27FC236}">
                      <a16:creationId xmlns:a16="http://schemas.microsoft.com/office/drawing/2014/main" id="{44DE004B-5C26-6516-1197-E3F17DD4ED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9426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2E42F854-1DD2-0090-31D1-85AA3D3AD6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9362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E0DBE2EA-8DED-140C-8056-D566C792FEBB}"/>
                  </a:ext>
                </a:extLst>
              </p:cNvPr>
              <p:cNvGrpSpPr/>
              <p:nvPr/>
            </p:nvGrpSpPr>
            <p:grpSpPr>
              <a:xfrm>
                <a:off x="8300033" y="3890259"/>
                <a:ext cx="969176" cy="0"/>
                <a:chOff x="8294778" y="3728780"/>
                <a:chExt cx="969176" cy="0"/>
              </a:xfrm>
            </p:grpSpPr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FA25123-97A6-2F18-6117-831960C500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94778" y="3728780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>
                  <a:extLst>
                    <a:ext uri="{FF2B5EF4-FFF2-40B4-BE49-F238E27FC236}">
                      <a16:creationId xmlns:a16="http://schemas.microsoft.com/office/drawing/2014/main" id="{55904951-E66A-06E7-EFFB-EF853EB141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04714" y="3728780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71">
                <a:extLst>
                  <a:ext uri="{FF2B5EF4-FFF2-40B4-BE49-F238E27FC236}">
                    <a16:creationId xmlns:a16="http://schemas.microsoft.com/office/drawing/2014/main" id="{B9DDEF2F-11BF-AB69-94BF-7A8105672EE2}"/>
                  </a:ext>
                </a:extLst>
              </p:cNvPr>
              <p:cNvGrpSpPr/>
              <p:nvPr/>
            </p:nvGrpSpPr>
            <p:grpSpPr>
              <a:xfrm>
                <a:off x="5749889" y="3890259"/>
                <a:ext cx="2498981" cy="0"/>
                <a:chOff x="3359621" y="2248016"/>
                <a:chExt cx="2498981" cy="0"/>
              </a:xfrm>
            </p:grpSpPr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09AE4981-9256-6D14-9322-6376849A0D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9621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50F7EAD3-4412-0AE0-48E0-9E1FD360E6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9556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>
                  <a:extLst>
                    <a:ext uri="{FF2B5EF4-FFF2-40B4-BE49-F238E27FC236}">
                      <a16:creationId xmlns:a16="http://schemas.microsoft.com/office/drawing/2014/main" id="{40601C35-717B-255F-1D84-45186EE5F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9491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>
                  <a:extLst>
                    <a:ext uri="{FF2B5EF4-FFF2-40B4-BE49-F238E27FC236}">
                      <a16:creationId xmlns:a16="http://schemas.microsoft.com/office/drawing/2014/main" id="{0E606E58-9A1A-41F9-D926-6EF1E1A95B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9426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EA6974B2-C6EA-9FFF-2A79-86F401B0F2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9362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8EDD932B-F926-2E4D-BACE-862D120BF5CB}"/>
                </a:ext>
              </a:extLst>
            </p:cNvPr>
            <p:cNvGrpSpPr/>
            <p:nvPr/>
          </p:nvGrpSpPr>
          <p:grpSpPr>
            <a:xfrm>
              <a:off x="5366826" y="6121654"/>
              <a:ext cx="2194560" cy="41564"/>
              <a:chOff x="3199746" y="3890259"/>
              <a:chExt cx="3009383" cy="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087E598B-F39C-3317-DC45-6CE0B25301FD}"/>
                  </a:ext>
                </a:extLst>
              </p:cNvPr>
              <p:cNvGrpSpPr/>
              <p:nvPr/>
            </p:nvGrpSpPr>
            <p:grpSpPr>
              <a:xfrm>
                <a:off x="3199746" y="3890259"/>
                <a:ext cx="2498981" cy="0"/>
                <a:chOff x="3359621" y="2248016"/>
                <a:chExt cx="2498981" cy="0"/>
              </a:xfrm>
            </p:grpSpPr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1F047BF5-F1CA-9F55-2695-3601CD8AC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59621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483B0D80-D0D8-55A5-7C4E-EAD3CADF86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69556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EDEE0F9C-FBB0-54FB-F11D-F363B23B0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79491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3127E61C-3D9D-6960-503B-79D2A0DD2F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889426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8E2AF68E-B1CA-1E44-24B6-948D911B92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399362" y="2248016"/>
                  <a:ext cx="459240" cy="0"/>
                </a:xfrm>
                <a:prstGeom prst="line">
                  <a:avLst/>
                </a:prstGeom>
                <a:ln w="76200">
                  <a:solidFill>
                    <a:srgbClr val="09FA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E26E5322-2C9E-7DC0-14C5-1083715839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9889" y="3890259"/>
                <a:ext cx="459240" cy="0"/>
              </a:xfrm>
              <a:prstGeom prst="line">
                <a:avLst/>
              </a:prstGeom>
              <a:ln w="76200">
                <a:solidFill>
                  <a:srgbClr val="09FA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8" name="Group 107">
              <a:extLst>
                <a:ext uri="{FF2B5EF4-FFF2-40B4-BE49-F238E27FC236}">
                  <a16:creationId xmlns:a16="http://schemas.microsoft.com/office/drawing/2014/main" id="{CF3554C0-B150-9D94-AD90-76941E1EDA9F}"/>
                </a:ext>
              </a:extLst>
            </p:cNvPr>
            <p:cNvGrpSpPr/>
            <p:nvPr/>
          </p:nvGrpSpPr>
          <p:grpSpPr>
            <a:xfrm>
              <a:off x="7601077" y="6119577"/>
              <a:ext cx="713232" cy="45719"/>
              <a:chOff x="3359621" y="2248016"/>
              <a:chExt cx="969175" cy="0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2353CB6B-5DB0-E9F7-58AD-58D83248C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621" y="2248016"/>
                <a:ext cx="459240" cy="0"/>
              </a:xfrm>
              <a:prstGeom prst="line">
                <a:avLst/>
              </a:prstGeom>
              <a:ln w="76200">
                <a:solidFill>
                  <a:srgbClr val="09FA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5BC9CDD2-2A42-F9A2-A6BF-99633D9F59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9556" y="2248016"/>
                <a:ext cx="459240" cy="0"/>
              </a:xfrm>
              <a:prstGeom prst="line">
                <a:avLst/>
              </a:prstGeom>
              <a:ln w="76200">
                <a:solidFill>
                  <a:srgbClr val="09FA8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87054BEF-09B0-8CCF-D565-BF023581867A}"/>
              </a:ext>
            </a:extLst>
          </p:cNvPr>
          <p:cNvGrpSpPr/>
          <p:nvPr/>
        </p:nvGrpSpPr>
        <p:grpSpPr>
          <a:xfrm>
            <a:off x="901440" y="6036371"/>
            <a:ext cx="4425696" cy="45719"/>
            <a:chOff x="3199746" y="3890259"/>
            <a:chExt cx="6069463" cy="0"/>
          </a:xfrm>
        </p:grpSpPr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18505FC2-7529-3279-FA2C-366F29C8F62E}"/>
                </a:ext>
              </a:extLst>
            </p:cNvPr>
            <p:cNvGrpSpPr/>
            <p:nvPr/>
          </p:nvGrpSpPr>
          <p:grpSpPr>
            <a:xfrm>
              <a:off x="3199746" y="3890259"/>
              <a:ext cx="2498981" cy="0"/>
              <a:chOff x="3359621" y="2248016"/>
              <a:chExt cx="2498981" cy="0"/>
            </a:xfrm>
          </p:grpSpPr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B11CE6E6-2C7C-DEA2-78F5-88FE786E29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62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0028B46D-499A-E8CA-6563-23CA17DD03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955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AACC6EDD-322A-8513-7F58-5C275FCE5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49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72F916C6-1020-874A-4E64-6C0DED441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942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F64EFA99-DC20-DE37-7E28-D69BBBF8A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9362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F738212-9AF5-8097-FD64-3F6C8460AE1B}"/>
                </a:ext>
              </a:extLst>
            </p:cNvPr>
            <p:cNvGrpSpPr/>
            <p:nvPr/>
          </p:nvGrpSpPr>
          <p:grpSpPr>
            <a:xfrm>
              <a:off x="8300033" y="3890259"/>
              <a:ext cx="969176" cy="0"/>
              <a:chOff x="8294778" y="3728780"/>
              <a:chExt cx="969176" cy="0"/>
            </a:xfrm>
          </p:grpSpPr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DB8D85F6-7FA8-DE80-235F-42FC63D48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94778" y="3728780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B18E2781-A052-B680-5CA5-D7414149CA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04714" y="3728780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AD558E6-D658-91FD-A8E5-B2B425B4C67C}"/>
                </a:ext>
              </a:extLst>
            </p:cNvPr>
            <p:cNvGrpSpPr/>
            <p:nvPr/>
          </p:nvGrpSpPr>
          <p:grpSpPr>
            <a:xfrm>
              <a:off x="5749889" y="3890259"/>
              <a:ext cx="2498981" cy="0"/>
              <a:chOff x="3359621" y="2248016"/>
              <a:chExt cx="2498981" cy="0"/>
            </a:xfrm>
          </p:grpSpPr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A368E1F-5B23-9D06-4142-2BAD6ADC28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62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77BE5943-E4F1-157C-8781-65C75A2B8D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955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3484DAFA-3F34-BCA7-344E-8E9A3B75FD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491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D34786A1-F369-F2BA-9F68-CE9B9B3C54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9426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728F8991-A965-1B1C-943B-8C4F04FBE3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9362" y="2248016"/>
                <a:ext cx="459240" cy="0"/>
              </a:xfrm>
              <a:prstGeom prst="line">
                <a:avLst/>
              </a:prstGeom>
              <a:ln w="76200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C4311CD-4F7E-2063-9ADB-9EF1D3DD2DC5}"/>
              </a:ext>
            </a:extLst>
          </p:cNvPr>
          <p:cNvGrpSpPr/>
          <p:nvPr/>
        </p:nvGrpSpPr>
        <p:grpSpPr>
          <a:xfrm>
            <a:off x="901440" y="5925314"/>
            <a:ext cx="2194365" cy="0"/>
            <a:chOff x="3199746" y="3890259"/>
            <a:chExt cx="3009384" cy="0"/>
          </a:xfrm>
        </p:grpSpPr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3C429FDB-3555-7157-3370-7622228B7D8A}"/>
                </a:ext>
              </a:extLst>
            </p:cNvPr>
            <p:cNvGrpSpPr/>
            <p:nvPr/>
          </p:nvGrpSpPr>
          <p:grpSpPr>
            <a:xfrm>
              <a:off x="3199746" y="3890259"/>
              <a:ext cx="2498981" cy="0"/>
              <a:chOff x="3359621" y="2248016"/>
              <a:chExt cx="2498981" cy="0"/>
            </a:xfrm>
          </p:grpSpPr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45B9E453-55F4-8668-AC0A-16D754708D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621" y="2248016"/>
                <a:ext cx="45924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Straight Connector 155">
                <a:extLst>
                  <a:ext uri="{FF2B5EF4-FFF2-40B4-BE49-F238E27FC236}">
                    <a16:creationId xmlns:a16="http://schemas.microsoft.com/office/drawing/2014/main" id="{E77768AD-8960-4318-B05C-B736DD3432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69556" y="2248016"/>
                <a:ext cx="45924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Straight Connector 156">
                <a:extLst>
                  <a:ext uri="{FF2B5EF4-FFF2-40B4-BE49-F238E27FC236}">
                    <a16:creationId xmlns:a16="http://schemas.microsoft.com/office/drawing/2014/main" id="{F14A48DC-CAC1-03C7-0B5E-4BED097D5C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79491" y="2248016"/>
                <a:ext cx="45924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Straight Connector 157">
                <a:extLst>
                  <a:ext uri="{FF2B5EF4-FFF2-40B4-BE49-F238E27FC236}">
                    <a16:creationId xmlns:a16="http://schemas.microsoft.com/office/drawing/2014/main" id="{B54BB088-34CF-E320-F488-A157C07DA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9426" y="2248016"/>
                <a:ext cx="45924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Straight Connector 158">
                <a:extLst>
                  <a:ext uri="{FF2B5EF4-FFF2-40B4-BE49-F238E27FC236}">
                    <a16:creationId xmlns:a16="http://schemas.microsoft.com/office/drawing/2014/main" id="{C78996A0-53B0-6163-5F9C-C3BB3C27BB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9362" y="2248016"/>
                <a:ext cx="459240" cy="0"/>
              </a:xfrm>
              <a:prstGeom prst="line">
                <a:avLst/>
              </a:prstGeom>
              <a:ln w="762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0D1DC3B-1594-C34B-C32B-C0450A433447}"/>
                </a:ext>
              </a:extLst>
            </p:cNvPr>
            <p:cNvCxnSpPr>
              <a:cxnSpLocks/>
            </p:cNvCxnSpPr>
            <p:nvPr/>
          </p:nvCxnSpPr>
          <p:spPr>
            <a:xfrm>
              <a:off x="5749890" y="3890259"/>
              <a:ext cx="459240" cy="0"/>
            </a:xfrm>
            <a:prstGeom prst="line">
              <a:avLst/>
            </a:prstGeom>
            <a:ln w="762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2" name="TextBox 161">
            <a:extLst>
              <a:ext uri="{FF2B5EF4-FFF2-40B4-BE49-F238E27FC236}">
                <a16:creationId xmlns:a16="http://schemas.microsoft.com/office/drawing/2014/main" id="{480CC1C5-8282-DED4-7D80-B631CA587C3D}"/>
              </a:ext>
            </a:extLst>
          </p:cNvPr>
          <p:cNvSpPr txBox="1"/>
          <p:nvPr/>
        </p:nvSpPr>
        <p:spPr>
          <a:xfrm>
            <a:off x="7117856" y="47194"/>
            <a:ext cx="404622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400" dirty="0">
                <a:solidFill>
                  <a:srgbClr val="00B0F0"/>
                </a:solidFill>
                <a:latin typeface="+mj-lt"/>
              </a:rPr>
              <a:t>MPI_Ineighbor_alltoallv</a:t>
            </a:r>
          </a:p>
        </p:txBody>
      </p:sp>
    </p:spTree>
    <p:extLst>
      <p:ext uri="{BB962C8B-B14F-4D97-AF65-F5344CB8AC3E}">
        <p14:creationId xmlns:p14="http://schemas.microsoft.com/office/powerpoint/2010/main" val="570861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46" grpId="0"/>
      <p:bldP spid="47" grpId="0"/>
      <p:bldP spid="48" grpId="0"/>
      <p:bldP spid="49" grpId="0"/>
      <p:bldP spid="51" grpId="0"/>
      <p:bldP spid="52" grpId="0"/>
      <p:bldP spid="54" grpId="0"/>
      <p:bldP spid="55" grpId="0"/>
      <p:bldP spid="61" grpId="0"/>
      <p:bldP spid="78" grpId="0"/>
      <p:bldP spid="83" grpId="0"/>
    </p:bldLst>
  </p:timing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purl.org/dc/terms/"/>
    <ds:schemaRef ds:uri="http://schemas.microsoft.com/office/2006/metadata/properties"/>
    <ds:schemaRef ds:uri="http://schemas.microsoft.com/sharepoint/v3"/>
    <ds:schemaRef ds:uri="16c05727-aa75-4e4a-9b5f-8a80a1165891"/>
    <ds:schemaRef ds:uri="230e9df3-be65-4c73-a93b-d1236ebd677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{BEBEA853-DDB1-452F-81DB-0144C9BC788E}tf11936837_win32</Template>
  <TotalTime>1048</TotalTime>
  <Words>1395</Words>
  <Application>Microsoft Office PowerPoint</Application>
  <PresentationFormat>Widescreen</PresentationFormat>
  <Paragraphs>570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Aptos Mono</vt:lpstr>
      <vt:lpstr>Arial</vt:lpstr>
      <vt:lpstr>Arial Nova</vt:lpstr>
      <vt:lpstr>Biome</vt:lpstr>
      <vt:lpstr>Calibri</vt:lpstr>
      <vt:lpstr>Cambria Math</vt:lpstr>
      <vt:lpstr>Cascadia Code SemiBold</vt:lpstr>
      <vt:lpstr>Consolas</vt:lpstr>
      <vt:lpstr>Force Runner</vt:lpstr>
      <vt:lpstr>Wingdings</vt:lpstr>
      <vt:lpstr>Custom</vt:lpstr>
      <vt:lpstr>Track II</vt:lpstr>
      <vt:lpstr>Bridges-2 Setup</vt:lpstr>
      <vt:lpstr>Lecture Slides </vt:lpstr>
      <vt:lpstr>Exercise.1         Derived Data Types</vt:lpstr>
      <vt:lpstr>Exercise.1         Derived Data Types</vt:lpstr>
      <vt:lpstr>Exercise.1         Derived Data Types</vt:lpstr>
      <vt:lpstr>Exercise.1         Derived Data Types</vt:lpstr>
      <vt:lpstr>Exercise.1         Derived Data Types</vt:lpstr>
      <vt:lpstr>Exercise.1         Derived Data Types</vt:lpstr>
      <vt:lpstr>Exercise.2         Cartesian Virtual Topologies</vt:lpstr>
      <vt:lpstr>Exercise.2         Cartesian Virtual Topologies</vt:lpstr>
      <vt:lpstr>Exercise.2         Cartesian Virtual Topologies</vt:lpstr>
      <vt:lpstr>Exercise.3                Neighborhood Collectives</vt:lpstr>
      <vt:lpstr>Exercise.                Neighborhood Collectives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Christopher Kirby</dc:creator>
  <cp:lastModifiedBy>Andrew Christopher Kirby</cp:lastModifiedBy>
  <cp:revision>144</cp:revision>
  <dcterms:created xsi:type="dcterms:W3CDTF">2024-07-03T17:41:05Z</dcterms:created>
  <dcterms:modified xsi:type="dcterms:W3CDTF">2025-06-26T15:48:00Z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